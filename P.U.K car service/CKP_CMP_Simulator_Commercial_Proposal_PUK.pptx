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fed9afdfd54dee" /><Relationship Type="http://schemas.openxmlformats.org/officeDocument/2006/relationships/extended-properties" Target="/docProps/app.xml" Id="R4dfe9dabae764d5f" /><Relationship Type="http://schemas.openxmlformats.org/officeDocument/2006/relationships/officeDocument" Target="/ppt/presentation.xml" Id="R467711231127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227616b5d04879"/>
  </p:sldMasterIdLst>
  <p:notesMasterIdLst>
    <p:notesMasterId xmlns:r="http://schemas.openxmlformats.org/officeDocument/2006/relationships" r:id="Ra4c87507dea74b99"/>
  </p:notesMasterIdLst>
  <p:sldIdLst>
    <p:sldId xmlns:r="http://schemas.openxmlformats.org/officeDocument/2006/relationships" id="256" r:id="R898816ea8a774b5d"/>
    <p:sldId xmlns:r="http://schemas.openxmlformats.org/officeDocument/2006/relationships" id="257" r:id="Rea7d32f2a9904d9f"/>
    <p:sldId xmlns:r="http://schemas.openxmlformats.org/officeDocument/2006/relationships" id="258" r:id="Rf537e56bad274dee"/>
    <p:sldId xmlns:r="http://schemas.openxmlformats.org/officeDocument/2006/relationships" id="259" r:id="R03de33db3a5c4740"/>
    <p:sldId xmlns:r="http://schemas.openxmlformats.org/officeDocument/2006/relationships" id="260" r:id="R05e79c54f4ff4806"/>
    <p:sldId xmlns:r="http://schemas.openxmlformats.org/officeDocument/2006/relationships" id="261" r:id="Rc169d4edd71a48b1"/>
    <p:sldId xmlns:r="http://schemas.openxmlformats.org/officeDocument/2006/relationships" id="262" r:id="Rec15291e9bbc43de"/>
    <p:sldId xmlns:r="http://schemas.openxmlformats.org/officeDocument/2006/relationships" id="263" r:id="R177125b8d5064a23"/>
    <p:sldId xmlns:r="http://schemas.openxmlformats.org/officeDocument/2006/relationships" id="264" r:id="Re4ddd71640604217"/>
    <p:sldId xmlns:r="http://schemas.openxmlformats.org/officeDocument/2006/relationships" id="265" r:id="R42b8e81d6e974c4e"/>
    <p:sldId xmlns:r="http://schemas.openxmlformats.org/officeDocument/2006/relationships" id="266" r:id="Rd43bef1187584b26"/>
    <p:sldId xmlns:r="http://schemas.openxmlformats.org/officeDocument/2006/relationships" id="267" r:id="R4951e7da36b14482"/>
    <p:sldId xmlns:r="http://schemas.openxmlformats.org/officeDocument/2006/relationships" id="268" r:id="Rf935fb33d35547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96d4929fe1481a" /><Relationship Type="http://schemas.openxmlformats.org/officeDocument/2006/relationships/slideMaster" Target="/ppt/slideMasters/slideMaster1.xml" Id="Rd0227616b5d04879" /><Relationship Type="http://schemas.openxmlformats.org/officeDocument/2006/relationships/notesMaster" Target="/ppt/notesMasters/notesMaster1.xml" Id="Ra4c87507dea74b99" /><Relationship Type="http://schemas.openxmlformats.org/officeDocument/2006/relationships/presProps" Target="/ppt/presProps.xml" Id="R2e701b5ead264885" /><Relationship Type="http://schemas.openxmlformats.org/officeDocument/2006/relationships/tableStyles" Target="/ppt/tableStyles.xml" Id="R945f7350bd70456d" /><Relationship Type="http://schemas.openxmlformats.org/officeDocument/2006/relationships/slide" Target="/ppt/slides/slide1.xml" Id="R898816ea8a774b5d" /><Relationship Type="http://schemas.openxmlformats.org/officeDocument/2006/relationships/slide" Target="/ppt/slides/slide2.xml" Id="Rea7d32f2a9904d9f" /><Relationship Type="http://schemas.openxmlformats.org/officeDocument/2006/relationships/slide" Target="/ppt/slides/slide3.xml" Id="Rf537e56bad274dee" /><Relationship Type="http://schemas.openxmlformats.org/officeDocument/2006/relationships/slide" Target="/ppt/slides/slide4.xml" Id="R03de33db3a5c4740" /><Relationship Type="http://schemas.openxmlformats.org/officeDocument/2006/relationships/slide" Target="/ppt/slides/slide5.xml" Id="R05e79c54f4ff4806" /><Relationship Type="http://schemas.openxmlformats.org/officeDocument/2006/relationships/slide" Target="/ppt/slides/slide6.xml" Id="Rc169d4edd71a48b1" /><Relationship Type="http://schemas.openxmlformats.org/officeDocument/2006/relationships/slide" Target="/ppt/slides/slide7.xml" Id="Rec15291e9bbc43de" /><Relationship Type="http://schemas.openxmlformats.org/officeDocument/2006/relationships/slide" Target="/ppt/slides/slide8.xml" Id="R177125b8d5064a23" /><Relationship Type="http://schemas.openxmlformats.org/officeDocument/2006/relationships/slide" Target="/ppt/slides/slide9.xml" Id="Re4ddd71640604217" /><Relationship Type="http://schemas.openxmlformats.org/officeDocument/2006/relationships/slide" Target="/ppt/slides/slide10.xml" Id="R42b8e81d6e974c4e" /><Relationship Type="http://schemas.openxmlformats.org/officeDocument/2006/relationships/slide" Target="/ppt/slides/slide11.xml" Id="Rd43bef1187584b26" /><Relationship Type="http://schemas.openxmlformats.org/officeDocument/2006/relationships/slide" Target="/ppt/slides/slide12.xml" Id="R4951e7da36b14482" /><Relationship Type="http://schemas.openxmlformats.org/officeDocument/2006/relationships/slide" Target="/ppt/slides/slide13.xml" Id="Rf935fb33d35547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74bce9ed6442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aba97a148a48d7" /><Relationship Type="http://schemas.openxmlformats.org/officeDocument/2006/relationships/notesMaster" Target="/ppt/notesMasters/notesMaster1.xml" Id="R2d6a5f8896cd4d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a37a929e804eea" /><Relationship Type="http://schemas.openxmlformats.org/officeDocument/2006/relationships/notesMaster" Target="/ppt/notesMasters/notesMaster1.xml" Id="Rad4cdbe91ba04b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d280aaee274439" /><Relationship Type="http://schemas.openxmlformats.org/officeDocument/2006/relationships/notesMaster" Target="/ppt/notesMasters/notesMaster1.xml" Id="R46dfca26320f40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e44898fda04263" /><Relationship Type="http://schemas.openxmlformats.org/officeDocument/2006/relationships/notesMaster" Target="/ppt/notesMasters/notesMaster1.xml" Id="R265a08fbe23449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0dc251e1524e3f" /><Relationship Type="http://schemas.openxmlformats.org/officeDocument/2006/relationships/notesMaster" Target="/ppt/notesMasters/notesMaster1.xml" Id="Ra7d1652681ed4c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87ebe758214928" /><Relationship Type="http://schemas.openxmlformats.org/officeDocument/2006/relationships/notesMaster" Target="/ppt/notesMasters/notesMaster1.xml" Id="R50e6b614275446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ce53f3f25d4625" /><Relationship Type="http://schemas.openxmlformats.org/officeDocument/2006/relationships/notesMaster" Target="/ppt/notesMasters/notesMaster1.xml" Id="R3b81a1b91d6149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48d50155174420" /><Relationship Type="http://schemas.openxmlformats.org/officeDocument/2006/relationships/notesMaster" Target="/ppt/notesMasters/notesMaster1.xml" Id="R629fb1ffd4a04f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9b03ec5cf8441b" /><Relationship Type="http://schemas.openxmlformats.org/officeDocument/2006/relationships/notesMaster" Target="/ppt/notesMasters/notesMaster1.xml" Id="R797b770cfccf45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84e8c3f8e24b20" /><Relationship Type="http://schemas.openxmlformats.org/officeDocument/2006/relationships/notesMaster" Target="/ppt/notesMasters/notesMaster1.xml" Id="R942f5482e89f4e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1afae8f8ea4e06" /><Relationship Type="http://schemas.openxmlformats.org/officeDocument/2006/relationships/notesMaster" Target="/ppt/notesMasters/notesMaster1.xml" Id="R50154c5878f64f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c089fcd6a947b2" /><Relationship Type="http://schemas.openxmlformats.org/officeDocument/2006/relationships/notesMaster" Target="/ppt/notesMasters/notesMaster1.xml" Id="Rae8f206b286a44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aec1bdfa5b42bc" /><Relationship Type="http://schemas.openxmlformats.org/officeDocument/2006/relationships/notesMaster" Target="/ppt/notesMasters/notesMaster1.xml" Id="Rf36b26b4e58e4f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รายงานข้อเสนอเชิงพาณิชย์_CKP_CMP_Simulator_PUK_Car_Service.docx (ผู้ใช้จัดเตรียม, 20 สิงหาคม 2569)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9572632054e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af7af0ba424f22" /><Relationship Type="http://schemas.openxmlformats.org/officeDocument/2006/relationships/slideLayout" Target="/ppt/slideLayouts/slideLayout1.xml" Id="Rc2b2484a7c0944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b2484a7c0944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c2641daa2434b" /><Relationship Type="http://schemas.openxmlformats.org/officeDocument/2006/relationships/notesSlide" Target="/ppt/notesSlides/notesSlide1.xml" Id="R68edc4d0feb641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9ccf55b7a4acb" /><Relationship Type="http://schemas.openxmlformats.org/officeDocument/2006/relationships/notesSlide" Target="/ppt/notesSlides/notesSlide2.xml" Id="R1cd064dc3aa84c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2e1ee1d66423d" /><Relationship Type="http://schemas.openxmlformats.org/officeDocument/2006/relationships/notesSlide" Target="/ppt/notesSlides/notesSlide3.xml" Id="R0bb5b7be67784c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54de9c2f84fd3" /><Relationship Type="http://schemas.openxmlformats.org/officeDocument/2006/relationships/notesSlide" Target="/ppt/notesSlides/notesSlide4.xml" Id="Rf4941f6fa06947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124b9cf944796" /><Relationship Type="http://schemas.openxmlformats.org/officeDocument/2006/relationships/notesSlide" Target="/ppt/notesSlides/notesSlide5.xml" Id="R92ec814cd6db41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013c36d0f4ff5" /><Relationship Type="http://schemas.openxmlformats.org/officeDocument/2006/relationships/chart" Target="/ppt/slides/charts/chart1.xml" Id="Rd37c8e0507a74563" /><Relationship Type="http://schemas.openxmlformats.org/officeDocument/2006/relationships/notesSlide" Target="/ppt/notesSlides/notesSlide6.xml" Id="R76010d65a7dc40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47f54fbaa47fa" /><Relationship Type="http://schemas.openxmlformats.org/officeDocument/2006/relationships/notesSlide" Target="/ppt/notesSlides/notesSlide7.xml" Id="R87a924e3a8af4a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431a22c184515" /><Relationship Type="http://schemas.openxmlformats.org/officeDocument/2006/relationships/notesSlide" Target="/ppt/notesSlides/notesSlide8.xml" Id="Rd65cddb8daf347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4fb6dfe2a494b" /><Relationship Type="http://schemas.openxmlformats.org/officeDocument/2006/relationships/chart" Target="/ppt/slides/charts/chart2.xml" Id="R3817edb2dd4a49b3" /><Relationship Type="http://schemas.openxmlformats.org/officeDocument/2006/relationships/notesSlide" Target="/ppt/notesSlides/notesSlide9.xml" Id="R9611c69b069c4e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29d4b8337472d" /><Relationship Type="http://schemas.openxmlformats.org/officeDocument/2006/relationships/notesSlide" Target="/ppt/notesSlides/notesSlide10.xml" Id="Rb9fea148402141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f19d2fbf44f94" /><Relationship Type="http://schemas.openxmlformats.org/officeDocument/2006/relationships/notesSlide" Target="/ppt/notesSlides/notesSlide11.xml" Id="R5a4719cf964d4a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349dc24d84eac" /><Relationship Type="http://schemas.openxmlformats.org/officeDocument/2006/relationships/notesSlide" Target="/ppt/notesSlides/notesSlide12.xml" Id="Rf449ee7623df46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9c42c679c4b3e" /><Relationship Type="http://schemas.openxmlformats.org/officeDocument/2006/relationships/notesSlide" Target="/ppt/notesSlides/notesSlide13.xml" Id="Ra5d8da29628e415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บาท/เครื่อง</c:v>
          </c:tx>
          <c:spPr>
            <a:solidFill xmlns:a="http://schemas.openxmlformats.org/drawingml/2006/main">
              <a:srgbClr val="1464F4"/>
            </a:solidFill>
          </c:spPr>
          <c:cat>
            <c:strLit>
              <c:ptCount val="6"/>
              <c:pt idx="0">
                <c:v>วัสดุหลัก</c:v>
              </c:pt>
              <c:pt idx="1">
                <c:v>R&amp;D เฉลี่ย</c:v>
              </c:pt>
              <c:pt idx="2">
                <c:v>ประกอบ/ทดสอบ</c:v>
              </c:pt>
              <c:pt idx="3">
                <c:v>เผื่องานเสีย+รับประกัน</c:v>
              </c:pt>
              <c:pt idx="4">
                <c:v>บรรจุภัณฑ์+คู่มือ</c:v>
              </c:pt>
              <c:pt idx="5">
                <c:v>ค่าใช้จ่ายสนับสนุน</c:v>
              </c:pt>
            </c:strLit>
          </c:cat>
          <c:val>
            <c:numLit>
              <c:formatCode>General</c:formatCode>
              <c:ptCount val="6"/>
              <c:pt idx="0">
                <c:v>673.8</c:v>
              </c:pt>
              <c:pt idx="1">
                <c:v>326.92</c:v>
              </c:pt>
              <c:pt idx="2">
                <c:v>245.19</c:v>
              </c:pt>
              <c:pt idx="3">
                <c:v>67.38</c:v>
              </c:pt>
              <c:pt idx="4">
                <c:v>70</c:v>
              </c:pt>
              <c:pt idx="5">
                <c:v>106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ต้นทุนจริง/เครื่อง</c:v>
          </c:tx>
          <c:spPr>
            <a:solidFill xmlns:a="http://schemas.openxmlformats.org/drawingml/2006/main">
              <a:srgbClr val="1464F4"/>
            </a:solidFill>
            <a:ln xmlns:a="http://schemas.openxmlformats.org/drawingml/2006/main" w="38100">
              <a:solidFill>
                <a:srgbClr val="1464F4"/>
              </a:solidFill>
            </a:ln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20</c:v>
              </c:pt>
              <c:pt idx="4">
                <c:v>50</c:v>
              </c:pt>
            </c:numLit>
          </c:cat>
          <c:val>
            <c:numLit>
              <c:formatCode>General</c:formatCode>
              <c:ptCount val="5"/>
              <c:pt idx="0">
                <c:v>4431.6</c:v>
              </c:pt>
              <c:pt idx="1">
                <c:v>1816.22</c:v>
              </c:pt>
              <c:pt idx="2">
                <c:v>1489.3</c:v>
              </c:pt>
              <c:pt idx="3">
                <c:v>1325.83</c:v>
              </c:pt>
              <c:pt idx="4">
                <c:v>1227.76</c:v>
              </c:pt>
            </c:numLit>
          </c:val>
        </c:ser>
        <c:ser>
          <c:idx val="1"/>
          <c:order val="1"/>
          <c:tx>
            <c:v>ราคาหลังค่าธรรมเนียม</c:v>
          </c:tx>
          <c:spPr>
            <a:solidFill xmlns:a="http://schemas.openxmlformats.org/drawingml/2006/main">
              <a:srgbClr val="6DCBF4"/>
            </a:solidFill>
            <a:ln xmlns:a="http://schemas.openxmlformats.org/drawingml/2006/main" w="38100">
              <a:solidFill>
                <a:srgbClr val="6DCBF4"/>
              </a:solidFill>
            </a:ln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20</c:v>
              </c:pt>
              <c:pt idx="4">
                <c:v>50</c:v>
              </c:pt>
            </c:numLit>
          </c:cat>
          <c:val>
            <c:numLit>
              <c:formatCode>General</c:formatCode>
              <c:ptCount val="5"/>
              <c:pt idx="0">
                <c:v>7995.16</c:v>
              </c:pt>
              <c:pt idx="1">
                <c:v>3276.68</c:v>
              </c:pt>
              <c:pt idx="2">
                <c:v>2686.87</c:v>
              </c:pt>
              <c:pt idx="3">
                <c:v>2391.97</c:v>
              </c:pt>
              <c:pt idx="4">
                <c:v>2215.02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C3F2FD-9C84-4CD8-A9C7-D5ACD14D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6AA58-9DE5-4249-82E6-56413F3C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67250"/>
            <a:ext cx="5524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55EA2-19BB-4652-BCB4-C37EA478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581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</a:defRPr>
            </a:pPr>
            <a:r>
              <a:rPr sz="3900" b="1">
                <a:solidFill>
                  <a:srgbClr val="101820"/>
                </a:solidFill>
              </a:rPr>
              <a:t>ข้อเสนอเชิงพาณิชย์</a:t>
            </a:r>
          </a:p>
          <a:p xmlns:a="http://schemas.openxmlformats.org/drawingml/2006/main">
            <a:pPr algn="l">
              <a:defRPr sz="3900" b="1">
                <a:solidFill>
                  <a:srgbClr val="101820"/>
                </a:solidFill>
              </a:defRPr>
            </a:pPr>
            <a:r>
              <a:rPr sz="3900" b="1">
                <a:solidFill>
                  <a:srgbClr val="101820"/>
                </a:solidFill>
              </a:rPr>
              <a:t>และการกำหนดราคาขาย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CF5FB-C25E-435C-A972-EE1325D9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93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64F4"/>
                </a:solidFill>
              </a:defRPr>
            </a:pPr>
            <a:r>
              <a:rPr sz="2250" b="1">
                <a:solidFill>
                  <a:srgbClr val="1464F4"/>
                </a:solidFill>
              </a:rPr>
              <a:t>CKP/CMP Signal Simulator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44E69-2A81-4932-9521-813F3F32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B"/>
                </a:solidFill>
              </a:defRPr>
            </a:pPr>
            <a:r>
              <a:rPr sz="1650" b="0">
                <a:solidFill>
                  <a:srgbClr val="52616B"/>
                </a:solidFill>
              </a:rPr>
              <a:t>เครื่องจำลองสัญญาณเพลาข้อเหวี่ยงและเพลาลูกเบี้ยว</a:t>
            </a:r>
          </a:p>
          <a:p xmlns:a="http://schemas.openxmlformats.org/drawingml/2006/main">
            <a:pPr algn="l">
              <a:defRPr sz="1650" b="0">
                <a:solidFill>
                  <a:srgbClr val="52616B"/>
                </a:solidFill>
              </a:defRPr>
            </a:pPr>
            <a:r>
              <a:rPr sz="1650" b="0">
                <a:solidFill>
                  <a:srgbClr val="52616B"/>
                </a:solidFill>
              </a:rPr>
              <a:t>แบบ Stand-alone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BE14A-AD36-4823-9569-70ED5F63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เสนอฝ่ายบริหาร / ผู้มีอำนาจอนุมัติ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5C85D-9ADA-4A1A-B710-B849395C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P.U.K Car Service  •  20 สิงหาคม 2569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F4CAC-8981-4DFB-9C48-055A218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62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</a:defRPr>
            </a:pPr>
            <a:r>
              <a:rPr sz="1350" b="1">
                <a:solidFill>
                  <a:srgbClr val="6DCBF4"/>
                </a:solidFill>
              </a:rPr>
              <a:t>CKP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80F24-FC0B-4305-9AD3-64078480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</a:defRPr>
            </a:pPr>
            <a:r>
              <a:rPr sz="1350" b="1">
                <a:solidFill>
                  <a:srgbClr val="6DCBF4"/>
                </a:solidFill>
              </a:rPr>
              <a:t>CMP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3CD1A-793F-4E0F-922D-C824C6FF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52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17E9B-2DA8-41AE-BD32-FBD62390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1500"/>
            <a:ext cx="0" cy="3810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F59A2-DDE7-4B8F-B657-B39430A6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1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F132D-ED8B-48E3-96D6-9E67DF33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0" cy="3810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10FFB-478E-49C3-8F4E-F098B904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52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D6F4B-5376-48EA-B7D7-1DCD9E57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"/>
            <a:ext cx="0" cy="3810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C078A-D183-4740-8246-6241714E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1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018AA-1489-4C76-8912-39DC068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0" cy="3810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DFD8C-FB79-4FEA-962B-B5090E19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52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EC5310-FA51-45F3-B4C8-FC8C348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71500"/>
            <a:ext cx="0" cy="3810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B9551-27BA-4293-BB50-63AD8A5B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715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1790A4-A42B-480B-8894-9F2040B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1500"/>
            <a:ext cx="0" cy="3810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6ACF0-C8D3-41D1-89C8-3D9A4085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525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1B59EA-A169-4EA0-B492-B98D73AB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7A0B1E-EBF5-4579-A681-921509F6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17604-8756-4BF0-BF5C-EC252740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A914B1-52BF-4D5D-A050-1F8B9F1A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00250"/>
            <a:ext cx="0" cy="4762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C9093A-5F13-4894-8957-67CCCF37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CAF2C-846E-4261-9485-CE97D942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ราคาแนะนำ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27B507-43EA-458E-9438-5E5D2C57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86375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2,690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8532FB-87E0-4E2F-959F-58DB33F1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19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บาท / เครื่อง</a:t>
            </a:r>
          </a:p>
        </p:txBody>
      </p:sp>
    </p:spTree>
    <p:extLst>
      <p:ext uri="{BB962C8B-B14F-4D97-AF65-F5344CB8AC3E}">
        <p14:creationId xmlns:p14="http://schemas.microsoft.com/office/powerpoint/2010/main" val="948716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722E5-B095-4FD7-9400-E8547075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P.U.K CAR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6F674-2494-41EF-B0EA-C50F59DD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ข้อเสนอเดียวที่ต้องตัดสินใจ: อนุมัติล็อตนำร่อง 10 เครื่อง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A2465-0733-492F-816B-10B032EB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2F5A5-5B18-40C3-99B9-C677661A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5F691-D2C2-4FB4-852D-408BAB35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64F4"/>
                </a:solidFill>
              </a:defRPr>
            </a:pPr>
            <a:r>
              <a:rPr sz="3750" b="1">
                <a:solidFill>
                  <a:srgbClr val="1464F4"/>
                </a:solidFill>
              </a:rPr>
              <a:t>2,690 บาท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25890-6658-4D24-BA4E-278496CC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ราคาป้ายแนะนำต่อเครื่อง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EC4B5-68C1-4C64-A07C-06C60141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5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16B"/>
                </a:solidFill>
              </a:defRPr>
            </a:pPr>
            <a:r>
              <a:rPr sz="1275" b="1">
                <a:solidFill>
                  <a:srgbClr val="52616B"/>
                </a:solidFill>
              </a:rPr>
              <a:t>ต้นทุนจริง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496A1-A542-4B98-93A9-39A8F349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</a:defRPr>
            </a:pPr>
            <a:r>
              <a:rPr sz="2550" b="1">
                <a:solidFill>
                  <a:srgbClr val="101820"/>
                </a:solidFill>
              </a:rPr>
              <a:t>1,489.30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83CB4-E4B6-4439-B3FD-23BDB05F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16B"/>
                </a:solidFill>
              </a:defRPr>
            </a:pPr>
            <a:r>
              <a:rPr sz="1275" b="1">
                <a:solidFill>
                  <a:srgbClr val="52616B"/>
                </a:solidFill>
              </a:rPr>
              <a:t>Markup หลังค่าธรรมเนียม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3646B-EC0F-4286-B16E-F17B69E0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8A5B"/>
                </a:solidFill>
              </a:defRPr>
            </a:pPr>
            <a:r>
              <a:rPr sz="2550" b="1">
                <a:solidFill>
                  <a:srgbClr val="168A5B"/>
                </a:solidFill>
              </a:rPr>
              <a:t>75.2%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906B7-7EB4-40FC-836C-25773983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95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16B"/>
                </a:solidFill>
              </a:defRPr>
            </a:pPr>
            <a:r>
              <a:rPr sz="1275" b="1">
                <a:solidFill>
                  <a:srgbClr val="52616B"/>
                </a:solidFill>
              </a:rPr>
              <a:t>Gross Margin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886DC-AED0-43E4-9B14-E0697C5A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5262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</a:defRPr>
            </a:pPr>
            <a:r>
              <a:rPr sz="2550" b="1">
                <a:solidFill>
                  <a:srgbClr val="101820"/>
                </a:solidFill>
              </a:rPr>
              <a:t>41.7%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BBDD0-7469-4BD8-8BEB-F8F89F75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C1748-3F2E-4626-B860-FD7FECDE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032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</a:defRPr>
            </a:pPr>
            <a:r>
              <a:rPr sz="1800" b="0">
                <a:solidFill>
                  <a:srgbClr val="101820"/>
                </a:solidFill>
              </a:rPr>
              <a:t>ผลิตล็อตนำร่อง 10 เครื่อง เพื่อเฉลี่ยต้นทุน R&amp;D และตรวจสอบตลาด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43C45-9B4F-4A99-9D13-F496B3E1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274C9C-429A-44EF-89DA-F8E51E05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32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</a:defRPr>
            </a:pPr>
            <a:r>
              <a:rPr sz="1800" b="0">
                <a:solidFill>
                  <a:srgbClr val="101820"/>
                </a:solidFill>
              </a:rPr>
              <a:t>กำหนดราคาโปรโมชั่นขั้นต่ำ 2,590 บาท เฉพาะการขายตรง/เปิดตลาด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9CA1C-7794-4AC0-8B73-D07CBB8D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961E2-3CC6-448A-9B6B-EE3F7BCB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032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</a:defRPr>
            </a:pPr>
            <a:r>
              <a:rPr sz="1800" b="0">
                <a:solidFill>
                  <a:srgbClr val="101820"/>
                </a:solidFill>
              </a:rPr>
              <a:t>จัดทำมาตรฐาน QC คู่มือ Serial Number และเงื่อนไขรับประกันก่อนจำหน่าย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1AB3C-746B-4E4D-9140-99B534D1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CKP/CMP SIGNAL SIMULATOR  •  ข้อเสนอเพื่ออนุมัติ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F51AF-AC52-4A7D-8DAD-E54C2B64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46405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A7812-4BAA-4837-9DB7-6DC2D348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P.U.K CAR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BB8DF-4BC9-4E31-9917-E8848F2D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เครื่องมือเดียวช่วยลดการพึ่งพาเครื่องยนต์จริงในการทดสอบเบื้องต้น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BBAA4-31FA-4D9C-B386-3442F1E3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19925-AF4F-4F61-88C4-4743E11D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C5F15-064F-4D22-B13C-6EBA9CFA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64F4"/>
                </a:solidFill>
              </a:defRPr>
            </a:pPr>
            <a:r>
              <a:rPr sz="2850" b="1">
                <a:solidFill>
                  <a:srgbClr val="1464F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226D5-3910-4DAC-8C1C-BF7D808A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ตรวจวิเคราะห์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10338-1D33-47C4-BC1A-ABAC6DF7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สร้างสัญญาณอ้างอิง CKP/CMP เพื่อดูการตอบสนองของระบบ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B71C2-3790-49A6-9454-93160CB4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7E4D9-0C98-4839-8B8B-C9BAE969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6687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0E839-4F1E-423F-A70E-96CFD4B9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57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64F4"/>
                </a:solidFill>
              </a:defRPr>
            </a:pPr>
            <a:r>
              <a:rPr sz="2850" b="1">
                <a:solidFill>
                  <a:srgbClr val="1464F4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54711-7D2B-4B80-AA97-25DA7A2F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ฝึกอบรม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218CE-7EE3-47F0-98A9-66ED2277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สาธิตหลักการและรูปแบบสัญญาณโดยไม่ต้องสตาร์ทเครื่องยนต์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D08D7-49A6-4FF5-A931-B4B097BA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196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3B182-52DA-47C0-BEF3-C67F0375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959A3-322D-47ED-97DA-D3FBB37E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57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64F4"/>
                </a:solidFill>
              </a:defRPr>
            </a:pPr>
            <a:r>
              <a:rPr sz="2850" b="1">
                <a:solidFill>
                  <a:srgbClr val="1464F4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B27AA-EDA9-4F54-9E49-C0FAFC2A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ต่อยอดได้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E5971-F4EA-478C-A231-11D5BFEE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9562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เพิ่ม Engine Pattern และฟังก์ชันใหม่ผ่านซอฟต์แวร์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D0543-599D-41C5-A0B3-6A1A0A93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96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DD20F-B467-4F75-9BD3-CB066142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คุณค่าหลัก: ประหยัดเวลาเตรียมงาน เพิ่มความสะดวก และสร้างสินค้าจากองค์ความรู้ภายใน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BD6BE7-BB40-4B4F-8490-E7AD01EA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CKP/CMP SIGNAL SIMULATOR  •  ข้อเสนอเพื่ออนุมัติ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14FA1-6E78-4855-9D83-3D00D09C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6508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04CF10-41FD-46E6-ADB7-715CBED3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P.U.K CAR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4024B-D522-4615-B6D2-D88FB5D9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ต้นแบบ Stand-alone พร้อมควบคุม Pattern และ RPM ได้จากหน้าเครื่อง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A08A-6FF8-41FF-8B08-2A646DEC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D2BAF-A700-436B-9381-BB1AB594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8577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FBC56-D825-46A6-81F9-1165A847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CBF4"/>
                </a:solidFill>
              </a:defRPr>
            </a:pPr>
            <a:r>
              <a:rPr sz="1950" b="1">
                <a:solidFill>
                  <a:srgbClr val="6DCBF4"/>
                </a:solidFill>
              </a:rPr>
              <a:t>RP2040 + PIO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4EDD6-F0AC-48F8-82E9-EE7664A2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OLED 1.3"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CCC80-FF12-428C-88B2-1DE1D99D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C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0C35E-C822-4EEA-ADFF-EF2C3190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19E8C-5F5E-41CF-A157-07AC3F33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C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6D3A1-28F8-4DB7-A4FB-F131B7A5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242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4E370-870F-4259-A6A1-639782AB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C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76067-E8C6-40F2-9B3E-E6B88705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242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3BB34-C444-4D9F-AF83-16D0F297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29125"/>
            <a:ext cx="114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E01C0-D705-40BE-8FEF-87BB478F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RPM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21784-7C04-4059-B29E-27372038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62500"/>
            <a:ext cx="128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RUN / STOP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67B7C-E02A-4438-B3A6-1E77A93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C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59510-2C40-4EC2-896C-BA6527DA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1450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64F4"/>
                </a:solidFill>
              </a:defRPr>
            </a:pPr>
            <a:r>
              <a:rPr sz="1650" b="1">
                <a:solidFill>
                  <a:srgbClr val="1464F4"/>
                </a:solidFill>
              </a:rPr>
              <a:t>CKP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2CA26-2B76-4DC3-97B2-329B35B2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812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64F4"/>
                </a:solidFill>
              </a:defRPr>
            </a:pPr>
            <a:r>
              <a:rPr sz="1650" b="1">
                <a:solidFill>
                  <a:srgbClr val="1464F4"/>
                </a:solidFill>
              </a:rPr>
              <a:t>CMP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650F3-CCE5-4E64-95CA-02A67068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C7F44-DDA5-4A6D-AA90-47EF9941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71625"/>
            <a:ext cx="451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เอาต์พุตสัญญาณ CKP และ CMP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51922-6705-4538-9808-568783C6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90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8FBD2-2B97-4002-A589-7416FFDF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95525"/>
            <a:ext cx="451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ปุ่ม 3 ปุ่มเลือกและยืนยัน Engine Pattern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9D196-473A-4257-90E5-B3D1C79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14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6ED96-E0F8-4078-9AD3-CAC471FB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19425"/>
            <a:ext cx="451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Rotary Encoder ปรับรอบเครื่องยนต์จำลอง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3E837C-F25D-4DD2-83A0-8952A100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38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C003E-A3C4-4EB0-91AB-C87AFBF6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43325"/>
            <a:ext cx="451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จอ OLED แสดง Pattern, RPM และสถานะ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909128-97AB-417F-90D7-C6853BFA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62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9D5C8B-C3FE-4682-BE04-91C54F0F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67225"/>
            <a:ext cx="4514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ชุดจ่ายไฟและสวิตช์ทำงานแบบ Stand-alone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3EB43C-AC81-4D8A-BD27-4F59DE50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CKP/CMP SIGNAL SIMULATOR  •  ข้อเสนอเพื่ออนุมัติ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A2435D-2D0A-49E3-8CC8-F342BC17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9022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E8A1EF-9F89-464E-A6C5-172B0BAE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P.U.K CAR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B4CA6-B5C0-415F-A4BB-8438EFE2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สมมติฐานตั้งราคาอิงต้นทุนจริงและการผลิตล็อตแรก 10 เครื่อง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86C81-602E-4065-B3DF-D2FE2B45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13388-D7FD-46A7-A8AF-49955AF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50287-5C24-4AFD-856C-572E6EA9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64F4"/>
                </a:solidFill>
              </a:defRPr>
            </a:pPr>
            <a:r>
              <a:rPr sz="3300" b="1">
                <a:solidFill>
                  <a:srgbClr val="1464F4"/>
                </a:solidFill>
              </a:rPr>
              <a:t>673.80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81097-0696-4BB1-8329-9E059DD2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95500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2616B"/>
                </a:solidFill>
              </a:defRPr>
            </a:pPr>
            <a:r>
              <a:rPr sz="1275" b="1">
                <a:solidFill>
                  <a:srgbClr val="52616B"/>
                </a:solidFill>
              </a:rPr>
              <a:t>บาท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0BE87-DE33-441A-BF06-168135E5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ค่าวัสดุต่อเครื่อง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62F4F-6536-43F8-8A8A-80D20FA1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3429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697C2-3FA9-4F4A-8501-279DA83D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64F4"/>
                </a:solidFill>
              </a:defRPr>
            </a:pPr>
            <a:r>
              <a:rPr sz="3300" b="1">
                <a:solidFill>
                  <a:srgbClr val="1464F4"/>
                </a:solidFill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D5A20-31F3-4546-8E35-4EF4DAFF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095500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2616B"/>
                </a:solidFill>
              </a:defRPr>
            </a:pPr>
            <a:r>
              <a:rPr sz="1275" b="1">
                <a:solidFill>
                  <a:srgbClr val="52616B"/>
                </a:solidFill>
              </a:rPr>
              <a:t>วัน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8DAE4-2030-42EC-B512-D0631340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ระยะเวลาพัฒนา R&amp;D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AF463-AA9F-40B6-826A-0959EB30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3429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43EAC-AEF4-4AEF-A017-A539973F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64F4"/>
                </a:solidFill>
              </a:defRPr>
            </a:pPr>
            <a:r>
              <a:rPr sz="3300" b="1">
                <a:solidFill>
                  <a:srgbClr val="1464F4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03D9F-8F21-48C8-8D5B-C126D60B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095500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2616B"/>
                </a:solidFill>
              </a:defRPr>
            </a:pPr>
            <a:r>
              <a:rPr sz="1275" b="1">
                <a:solidFill>
                  <a:srgbClr val="52616B"/>
                </a:solidFill>
              </a:rPr>
              <a:t>ชม.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2C086-880C-4980-801E-7F71B9A2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ประกอบและทดสอบ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35803-64DC-4190-9761-57C19E4E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3429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A2414-594F-433D-903D-1201ED4A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64F4"/>
                </a:solidFill>
              </a:defRPr>
            </a:pPr>
            <a:r>
              <a:rPr sz="3300" b="1">
                <a:solidFill>
                  <a:srgbClr val="1464F4"/>
                </a:solidFill>
              </a:rPr>
              <a:t>75%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76FC8-243E-46C0-AFAB-6A68C967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433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B3836-53CD-4011-B26F-0AF5B890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เป้าหมาย Markup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B0575D-6377-4EF8-9CD7-BCC22691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67125"/>
            <a:ext cx="3429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B8EA8-625B-4052-A373-3A63D3B0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9572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64F4"/>
                </a:solidFill>
              </a:defRPr>
            </a:pPr>
            <a:r>
              <a:rPr sz="3300" b="1">
                <a:solidFill>
                  <a:srgbClr val="1464F4"/>
                </a:solidFill>
              </a:rPr>
              <a:t>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88BF0-0204-4C73-89EC-F81FC366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433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BBBE9-B80B-40BA-B45B-B09C528B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95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ค่าธรรมเนียมช่องทาง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F449FC-2F59-44CF-B701-E3854512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67125"/>
            <a:ext cx="3429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2900B-191B-43FC-846F-B542ACA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9572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64F4"/>
                </a:solidFill>
              </a:defRPr>
            </a:pPr>
            <a:r>
              <a:rPr sz="3300" b="1">
                <a:solidFill>
                  <a:srgbClr val="1464F4"/>
                </a:solidFill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C02EB3-D15A-40B8-A5EC-A39454F0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143375"/>
            <a:ext cx="90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2616B"/>
                </a:solidFill>
              </a:defRPr>
            </a:pPr>
            <a:r>
              <a:rPr sz="1275" b="1">
                <a:solidFill>
                  <a:srgbClr val="52616B"/>
                </a:solidFill>
              </a:rPr>
              <a:t>เครื่อง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48B563-E5DC-4B31-A92B-1CAFB53C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95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ล็อตเริ่มต้น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D97F77-DD55-47BD-A208-C679B098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CKP/CMP SIGNAL SIMULATOR  •  ข้อเสนอเพื่ออนุมัติ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5B280A-1BD6-456A-88C7-ED8C3D23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1341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1ED18-52AA-49D2-8669-AEADB324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P.U.K CAR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7121D-7EAF-48CA-88EE-94991FBE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ต้นทุนจริง 1,489.30 บาท ครอบคลุมทั้งวัสดุ แรงงาน และภาระหลังการขาย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E2AEF-62D6-4FA3-964F-C7DD0674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571625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7c8e0507a7456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D304E-914B-492D-82ED-8A01E16A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5BB0E-4BF4-4895-A7AD-06F9D449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รวมต้นทุนจริง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0C2B4-9BB1-436C-BFAB-B7A9F047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DCBF4"/>
                </a:solidFill>
              </a:defRPr>
            </a:pPr>
            <a:r>
              <a:rPr sz="3600" b="1">
                <a:solidFill>
                  <a:srgbClr val="6DCBF4"/>
                </a:solidFill>
              </a:rPr>
              <a:t>1,489.30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300CD-8650-4717-B97D-435EAAE7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บาท / เครื่อง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5FBEF-F1DB-40A1-A3FC-D59182CB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R&amp;D ไม่ได้บวกเต็มทุกเครื่อง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362EE-33ED-4491-BC67-9C77551E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ต้นทุนพัฒนา 3,269.23 บาท เฉลี่ย 10 เครื่อง = 326.92 บาทต่อเครื่อง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E8A07-D896-4A33-AE74-16352A07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CKP/CMP SIGNAL SIMULATOR  •  ข้อเสนอเพื่ออนุมัติ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848F0-140E-4DCE-BB27-8B80AA4B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1526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ED8AD9-DDF0-4BAC-A99B-4FF0CBA4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P.U.K CAR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4D838-8BC7-4447-8391-31EA3929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ราคา 2,690 บาท เกิดจากสูตรต้นทุน + Markup + ค่าธรรมเนียม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ADCC0-7754-4948-B607-9107ADEF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CBCB5-8F47-47EA-A798-61D4B8D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39A7-47C3-4139-A89B-99AB506E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4F4"/>
                </a:solidFill>
              </a:defRPr>
            </a:pPr>
            <a:r>
              <a:rPr sz="1200" b="1">
                <a:solidFill>
                  <a:srgbClr val="1464F4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DCC0C-A695-4C58-A132-D02FB0F6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ต้นทุนจริง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FD8C8-F791-4E45-8D78-79D66973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464F4"/>
                </a:solidFill>
              </a:defRPr>
            </a:pPr>
            <a:r>
              <a:rPr sz="1800" b="1">
                <a:solidFill>
                  <a:srgbClr val="1464F4"/>
                </a:solidFill>
              </a:rPr>
              <a:t>1,489.30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37A79-C5E0-450D-B94D-EB268F9D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670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6B"/>
                </a:solidFill>
              </a:defRPr>
            </a:pPr>
            <a:r>
              <a:rPr sz="210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A0F55-1DA3-4E18-947F-63ED535A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47875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F2F9A-21C8-46F5-842C-2C632ACF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09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4F4"/>
                </a:solidFill>
              </a:defRPr>
            </a:pPr>
            <a:r>
              <a:rPr sz="1200" b="1">
                <a:solidFill>
                  <a:srgbClr val="1464F4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3E376-A9EC-4004-9BA7-71B607EC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193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กำไร Markup 75%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AD800-68F8-4402-86A6-9E4C8408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38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464F4"/>
                </a:solidFill>
              </a:defRPr>
            </a:pPr>
            <a:r>
              <a:rPr sz="1800" b="1">
                <a:solidFill>
                  <a:srgbClr val="1464F4"/>
                </a:solidFill>
              </a:rPr>
              <a:t>+1,116.97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79396-2AF5-4B73-9AF5-2B361F31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70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6B"/>
                </a:solidFill>
              </a:defRPr>
            </a:pPr>
            <a:r>
              <a:rPr sz="210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A5C01-5A5B-42F0-9A1E-3A47EBDD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47875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B57F2-93A8-4D2C-87A6-DED29DD1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4F4"/>
                </a:solidFill>
              </a:defRPr>
            </a:pPr>
            <a:r>
              <a:rPr sz="1200" b="1">
                <a:solidFill>
                  <a:srgbClr val="1464F4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2D1D8-DD52-48D1-AEB6-743087C0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193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ราคาก่อนค่าธรรมเนียม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97EB6-C2F8-472B-9C67-BF0A7D7B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38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464F4"/>
                </a:solidFill>
              </a:defRPr>
            </a:pPr>
            <a:r>
              <a:rPr sz="1800" b="1">
                <a:solidFill>
                  <a:srgbClr val="1464F4"/>
                </a:solidFill>
              </a:rPr>
              <a:t>2,606.27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994D6-A680-4964-A4E1-7EFB7198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6670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6B"/>
                </a:solidFill>
              </a:defRPr>
            </a:pPr>
            <a:r>
              <a:rPr sz="210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DD0508-4047-4F4F-82A0-27A61F91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47875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1F09A-82F9-4852-9990-A7442B79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09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4F4"/>
                </a:solidFill>
              </a:defRPr>
            </a:pPr>
            <a:r>
              <a:rPr sz="1200" b="1">
                <a:solidFill>
                  <a:srgbClr val="1464F4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C4451-4C00-4DC7-8B70-DB72E2ED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193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เผื่อค่าธรรมเนียม 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01835-C78F-4397-A881-3C8FDCD9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38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464F4"/>
                </a:solidFill>
              </a:defRPr>
            </a:pPr>
            <a:r>
              <a:rPr sz="1800" b="1">
                <a:solidFill>
                  <a:srgbClr val="1464F4"/>
                </a:solidFill>
              </a:rPr>
              <a:t>÷ 0.97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03AC0-9895-4F64-9E2A-B0CF2F28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16B"/>
                </a:solidFill>
              </a:defRPr>
            </a:pPr>
            <a:r>
              <a:rPr sz="210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6D22B-DE2B-4C96-B773-87C8FD73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47875"/>
            <a:ext cx="1952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33B3E-C0C8-4C65-AE36-A2D5EE33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09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71732-FEF4-4A95-BC43-D5E8AE91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193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ราคาที่ควรเก็บ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620C8-88B7-4E62-84AD-C3F764AD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38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2,686.88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22BC1D-2EF4-4142-AD04-58DA9C5A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109061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3819ED-13BD-4DE9-89C0-102B90A5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ราคาป้ายเสนอ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2D306-7722-4FF1-B8AC-D4CC7357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007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DCBF4"/>
                </a:solidFill>
              </a:defRPr>
            </a:pPr>
            <a:r>
              <a:rPr sz="3150" b="1">
                <a:solidFill>
                  <a:srgbClr val="6DCBF4"/>
                </a:solidFill>
              </a:rPr>
              <a:t>2,690 บาท / เครื่อง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0213E4-5515-48F1-B807-D794B813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ปัดเป็นราคาจำง่ายและยังรักษาเป้าหมายกำไร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54C5AD-1096-46D6-97D9-9E18E75E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CKP/CMP SIGNAL SIMULATOR  •  ข้อเสนอเพื่ออนุมัติ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F189FF-AE12-49F7-97FA-B2DBA1C6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2547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2B640A-7B3F-425F-B63C-3F860988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P.U.K CAR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D1474-7D4E-4E39-9FD2-9F233188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2,690 บาท คือจุดสมดุลระหว่างการเปิดตลาดและผลตอบแทน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650F8-1CF0-4C91-9E38-2BDA594A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92769-E029-4F21-B433-DD3C457A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AFBE7-B579-49A8-B345-D47ACA1A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ราคาเสนอ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1613E-B050-45D1-9BA7-44681F32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145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A5F35-B475-4E3B-AE42-FB2D0987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907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รายรับสุทธิหลัง 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A0FB1-8442-46C1-A62E-82949D78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14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546AA-C648-4931-9501-85BBBB45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907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กำไรหลังค่าธรรมเนียม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2BBE8-43F4-4A16-8ECE-62D6E337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145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F9A25-1BAC-4720-AF9A-41584884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907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Markup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BD826-99A3-4486-9BA1-D8CDC1EA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13727-E733-4F72-AB1C-782D7802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907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Gross Margin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EE8F9-433A-4AD6-ADF8-307F789C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3744E-94EA-462E-B1C4-4BC37C31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2,590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8FE96-4002-4024-8200-F3AF2574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28875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6A167-B7B2-4DE8-B105-B7B9AA44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05075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2,512.30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24CE2-00C1-4D02-B29F-C4B2688B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28875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88A92-4C41-4064-97A1-C4C7F09C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050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1,023.00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864D6B-698A-4482-9960-91D21217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288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F08F4-2B6B-4F26-B858-89FC0716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0507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68.7%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25F46-D04F-4FEF-953B-6930D290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28875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1AD54-6AFA-41F3-98EE-E360A767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0507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40.7%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F94A78-2365-406B-BF88-0A3E59B6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A3B05-0641-4EEB-AC33-78ECDD96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64F4"/>
                </a:solidFill>
              </a:defRPr>
            </a:pPr>
            <a:r>
              <a:rPr sz="1575" b="1">
                <a:solidFill>
                  <a:srgbClr val="1464F4"/>
                </a:solidFill>
              </a:rPr>
              <a:t>2,690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B560BD-C5E6-4444-85A1-D0AAD836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43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4A468-8290-4614-95FD-26047953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194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2,609.30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7D0D4B-88C6-49A9-91A6-B8C75935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432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87F47D-4808-4605-8C32-49F46616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194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1,120.00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42A7BB-5C22-42AD-9905-1E538778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432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328DD2-ED73-469A-89B6-BEEDE4FA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75.2%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F79708-CA26-4561-AEBB-034FC190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BCBD8B-0D2B-4CF0-B911-06B2E93A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194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41.7%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23D757-D378-4C6B-9109-1C4071B8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5A5198-7ABF-434C-9E00-8AC4E5BA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382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2,790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34FC94-A4F3-4159-B0A7-6D165FFF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57625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B0B1C7-6780-4665-B5ED-6B0FF060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33825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2,706.30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975F23-4B56-44F3-B8C1-D684C288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57625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12A05C-3B4E-46B5-AEC6-262E5FE5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338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1,217.00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BFB980-70D4-4080-838B-44759DD7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5762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15AE02-765D-42C9-BCB7-4BD15004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3382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81.7%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A6ABAB-9399-4A38-B01D-38A52572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00F488-EF11-4BE9-9508-12AC9364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338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43.6%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E68F0F-2F4B-47E7-8C96-18BC7D9E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</a:defRPr>
            </a:pPr>
            <a:r>
              <a:rPr sz="1650" b="1">
                <a:solidFill>
                  <a:srgbClr val="101820"/>
                </a:solidFill>
              </a:rPr>
              <a:t>ข้อเสนอเชิงพาณิชย์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4E05B0-6790-455F-9DB5-5ABE5611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053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64F4"/>
                </a:solidFill>
              </a:defRPr>
            </a:pPr>
            <a:r>
              <a:rPr sz="2100" b="1">
                <a:solidFill>
                  <a:srgbClr val="1464F4"/>
                </a:solidFill>
              </a:rPr>
              <a:t>ราคาป้าย 2,690 บาท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A74535-547F-4C9C-9A4D-637A2BA8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2616B"/>
                </a:solidFill>
              </a:defRPr>
            </a:pPr>
            <a:r>
              <a:rPr sz="1500" b="1">
                <a:solidFill>
                  <a:srgbClr val="52616B"/>
                </a:solidFill>
              </a:rPr>
              <a:t>โปรโมชั่นขั้นต่ำ 2,590 บาท เฉพาะขายตรง/เปิดตลาด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8A7147-9061-40A2-8AD7-7C56A235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CKP/CMP SIGNAL SIMULATOR  •  ข้อเสนอเพื่ออนุมัติ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051D9B-C3E4-4CB7-B27E-75A0B6FE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13653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D35A7-2934-4DC9-A988-B4382A33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P.U.K CAR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E7B90-26A5-4603-B5CB-BE778A8A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ยิ่งผลิตมาก ต้นทุน R&amp;D ต่อเครื่องยิ่งลดลงอย่างมีนัยสำคัญ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27E0A-002F-4421-8E41-FF3647CD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571625"/>
          <a:ext xmlns:a="http://schemas.openxmlformats.org/drawingml/2006/main" cx="7239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17edb2dd4a49b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538CE-9661-4657-A059-11F3E241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333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41DAD-033C-42F3-B4D8-7A6584B5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จุดเริ่มต้นที่เหมาะสม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83898-71DA-45B0-827C-4F0E2AA5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10 เครื่อง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ECDC3-DA5F-458A-A2A6-762B08B5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ช่วยเฉลี่ย R&amp;D โดยไม่ผูกเงินลงทุนสูงเกินไป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A3D34-7D82-4426-8F6B-4446DD02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งาน Custom 1 เครื่องควรเสนอประมาณ 7,790–8,000 บาท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E092B-BBCB-4C02-8836-E4C4A090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CKP/CMP SIGNAL SIMULATOR  •  ข้อเสนอเพื่ออนุมัติ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1CE92-4617-4D43-AF1D-5B4634F1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045184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245A40-80B8-462F-94CE-CEF27B0D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P.U.K CAR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60931-857F-42D4-B031-8F7EE7B2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กระบวนการ 7 ขั้นช่วยเปลี่ยนต้นแบบให้เป็นสินค้าที่ส่งมอบซ้ำได้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BF538-A0D6-4ED4-84A8-CACCAA41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3E2F6-2660-48B4-8F89-C27C6E05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03E7A-E48A-4F16-94FE-1342F867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4F4"/>
                </a:solidFill>
              </a:defRPr>
            </a:pPr>
            <a:r>
              <a:rPr sz="1125" b="1">
                <a:solidFill>
                  <a:srgbClr val="1464F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04900-E9BE-4B4C-A3CC-DFF3E64F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ยืนยันสเปก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0D7A3-EFF3-4071-841A-6DEC3B7A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16B"/>
                </a:solidFill>
              </a:defRPr>
            </a:pPr>
            <a:r>
              <a:rPr sz="195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2F34A-8F32-4188-9036-E783810A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71450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B506E-62F4-463B-9DAF-5C1A0EAF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57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4F4"/>
                </a:solidFill>
              </a:defRPr>
            </a:pPr>
            <a:r>
              <a:rPr sz="1125" b="1">
                <a:solidFill>
                  <a:srgbClr val="1464F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E635E-A097-480C-A0B5-CEF84843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717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จัดซื้อ/ตรวจรับ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A4B24-0804-41BB-9438-8EDBE617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095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16B"/>
                </a:solidFill>
              </a:defRPr>
            </a:pPr>
            <a:r>
              <a:rPr sz="195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DA38B-C083-4137-83C5-03D6CAC5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1450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7E5B7-B23B-437C-B335-DEDF15AC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57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4F4"/>
                </a:solidFill>
              </a:defRPr>
            </a:pPr>
            <a:r>
              <a:rPr sz="1125" b="1">
                <a:solidFill>
                  <a:srgbClr val="1464F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DCB40-076B-4F8C-8228-E6DBA52F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ประกอบ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222C9-3D51-47AF-8CAB-CB059B7C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16B"/>
                </a:solidFill>
              </a:defRPr>
            </a:pPr>
            <a:r>
              <a:rPr sz="195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7AFE0-8588-4B84-9932-684B6E73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71450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96E89-0D58-4692-8554-961A02A8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57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4F4"/>
                </a:solidFill>
              </a:defRPr>
            </a:pPr>
            <a:r>
              <a:rPr sz="1125" b="1">
                <a:solidFill>
                  <a:srgbClr val="1464F4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B2567-8312-439B-BF94-8236EA26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717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ลง Firmware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F171D-36E1-4E50-9057-96A18DBE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095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16B"/>
                </a:solidFill>
              </a:defRPr>
            </a:pPr>
            <a:r>
              <a:rPr sz="195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B76C5-3E32-42DF-BF27-98B2AA36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2F0C3-02B0-4C34-92A4-F2333C3F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4F4"/>
                </a:solidFill>
              </a:defRPr>
            </a:pPr>
            <a:r>
              <a:rPr sz="1125" b="1">
                <a:solidFill>
                  <a:srgbClr val="1464F4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7CD3C-285C-4C36-BC0C-091A0DDE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ทดสอบรูปคลื่น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E7378C-D176-41B3-80E3-FCFCCD9E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00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16B"/>
                </a:solidFill>
              </a:defRPr>
            </a:pPr>
            <a:r>
              <a:rPr sz="195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F599CB-82F9-4672-A184-CAD2E6BE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1950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449498-D8A3-466B-85CF-7B909508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762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4F4"/>
                </a:solidFill>
              </a:defRPr>
            </a:pPr>
            <a:r>
              <a:rPr sz="1125" b="1">
                <a:solidFill>
                  <a:srgbClr val="1464F4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607946-1C18-469F-A485-241FD893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767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Burn-in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E783EB-59E3-4F10-AF6C-C5A65845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00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16B"/>
                </a:solidFill>
              </a:defRPr>
            </a:pPr>
            <a:r>
              <a:rPr sz="1950" b="1">
                <a:solidFill>
                  <a:srgbClr val="52616B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009F54-091C-489B-B51F-678AF238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1950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8BD487-96A1-46E2-94FC-91D602E6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62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423408-0FB9-46FB-BE08-AF0C804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ส่งมอบ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B7080B-7F81-4352-B739-1386555E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หลักฐานส่งมอบทุกเครื่อง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41D45E-5785-4622-8EEA-392D5515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464F4"/>
                </a:solidFill>
              </a:defRPr>
            </a:pPr>
            <a:r>
              <a:rPr sz="1500" b="1">
                <a:solidFill>
                  <a:srgbClr val="1464F4"/>
                </a:solidFill>
              </a:rPr>
              <a:t>คู่มือ  •  ใบ QC  •  Serial Number  •  Firmware Revision  •  เงื่อนไขรับประกัน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7084B6-F4F8-45D8-A6FE-60700A4B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CKP/CMP SIGNAL SIMULATOR  •  ข้อเสนอเพื่ออนุมัติ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64E51A-23E7-417B-A742-288598F2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60086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EA6D82-22E8-4E62-85B3-9798F52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P.U.K CAR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E8F59-A881-47FB-BB02-810FB866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ความเสี่ยงหลักควบคุมได้ด้วยการกำหนด Interface และ QC ก่อนขาย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EBF0F-A9A0-49D7-A23F-36784A90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A9170-F6AA-4736-8233-DE66C260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356EA-34CF-41C6-9CF2-0CD78BEC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ความเข้ากันได้กับ ECU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64199-0462-46F7-92A7-055AB60B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กำหนดแรงดัน ขั้วต่อ Isolation/Protection และทดสอบกับชุดจำลอง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7E115-4C15-4749-8016-32DB96CE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24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EAB2F-7DD6-4CC9-A501-DED8FF7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4DEC3-8791-4DA0-8030-D4A34ECF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สัญญาณคลาดเคลื่อนที่ RPM สูง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11BB5-E78E-4CC4-A30D-9719752B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วัดด้วย Oscilloscope หลายจุดและกำหนด Operating Limit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2EE50-7C7A-414B-B370-486678C9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38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B0A5E-EA93-403D-A3D0-F4321B3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ABAC6-F9F4-40CD-86CF-33C56528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ประกอบไม่สม่ำเสมอ/ต่อผิด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91820-9BBB-4242-9621-5C0BA2D0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528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ใช้ Wiring Standard, QC Checklist และขั้วต่อกันสลับ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7D603-133A-49B3-9519-2295F213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528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C75CB-0FF2-4FEE-AC18-DB90092E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6A430-73B7-445B-B439-B0F41CF6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ต้นทุนอุปกรณ์เปลี่ยนแปลง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66761-CA6B-4DE4-A3DD-E3E818FA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ทบทวน BOM และราคาขายทุกล็อต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D3D39-3188-4AE3-B47D-1E41000C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672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D2EC4-4DF2-46A6-AF57-A6A0AE17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8734B-D06A-414B-AC33-A80962E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ใช้งานผิดวัตถุประสงค์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A0599-4525-4256-A477-EAD43B79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816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ติดคำเตือนและจำกัดการใช้งานโดยผู้มีความรู้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5406ED-C19F-42E9-8BCA-0C4173B8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816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2E64C1-0967-41C2-8359-7E9C70C0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CKP/CMP SIGNAL SIMULATOR  •  ข้อเสนอเพื่ออนุมัติ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1D835-73FC-483C-AF5D-BD35A31B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396695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9ABC7-0B3A-4503-84C5-D776838B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4F4"/>
                </a:solidFill>
              </a:defRPr>
            </a:pPr>
            <a:r>
              <a:rPr sz="975" b="1">
                <a:solidFill>
                  <a:srgbClr val="1464F4"/>
                </a:solidFill>
              </a:rPr>
              <a:t>P.U.K CAR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9813D-9782-44F0-A0CB-2E186D65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เงื่อนไขสำคัญ: ห้ามจำหน่ายจนกว่าจะผ่าน Engineering Release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40ABE-378C-4E7A-B4F8-FEB63B8C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D1746-5E55-47D5-B0F8-C2060E05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11277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C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D1DDE-3CAE-4A50-A915-20A82584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ต้นแบบยังไม่ควรต่อกับรถจริงโดยตรง หากยังไม่มีวงจรอินเทอร์เฟซและการทดสอบความปลอดภัย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EB5B3-1741-476C-A36B-0DB1F08F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3D919-B8A0-4BC7-849F-BEC7EC8C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Output 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2BB87-D69C-41CE-BD65-ACD01700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กำหนดแรงดันและรูปคลื่นเป้าหมาย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0F0B6-74D7-4D93-90A6-9690E55A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908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6EC64-5B35-4B82-ADCE-61AFF7BA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19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Protection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ACA46-A0F1-42FC-BB14-20190DA2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95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ป้องกันต่อผิดขั้ว/แรงดันเกิน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C1043-8458-4501-8CC4-E1FE544C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908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EBBCA-60B1-46EE-A604-56986DBC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19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93456-8693-4B4C-B5AA-A43534F7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ทดสอบ Pattern, RPM, Phase และ Burn-in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36389-2809-4AC4-8115-BA5EC882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908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4F4"/>
                </a:solidFill>
              </a:defRPr>
            </a:pPr>
            <a:r>
              <a:rPr sz="1350" b="1">
                <a:solidFill>
                  <a:srgbClr val="1464F4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F44B4-2437-4E76-B2AC-3646C6CA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19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Documentation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1AAD9-7323-48F6-9169-E599911A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0957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คู่มือ คำเตือน QC และ Warranty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27B7E-BB35-44F5-874F-BF9CF9FC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8A5B"/>
                </a:solidFill>
              </a:defRPr>
            </a:pPr>
            <a:r>
              <a:rPr sz="1950" b="1">
                <a:solidFill>
                  <a:srgbClr val="168A5B"/>
                </a:solidFill>
              </a:rPr>
              <a:t>ผ่านครบ 4 Gate → อนุมัติผลิตและจำหน่าย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63A1F-BC93-4F2C-9F92-CCDFB344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CKP/CMP SIGNAL SIMULATOR  •  ข้อเสนอเพื่ออนุมัติ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7EE58-8256-4CC1-B159-BFCA41B4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29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576967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6C5B0-D522-4FE5-8390-AC3800F0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มติที่ขออนุมัติ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325B7-F847-4CA4-B98A-4C1F60DE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D66DA-D618-4B00-AD24-0376DD4F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CBF4"/>
                </a:solidFill>
              </a:defRPr>
            </a:pPr>
            <a:r>
              <a:rPr sz="1950" b="1">
                <a:solidFill>
                  <a:srgbClr val="6DCBF4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B70A8-94DE-42E3-9FB8-67D79A34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240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ผลิตล็อตนำร่อง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DC265-2615-485E-9017-4AC25054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10 เครื่อง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3A4E3-A8E0-42F6-8235-9F142499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1AED6-91B8-4736-8585-24D1466E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CBF4"/>
                </a:solidFill>
              </a:defRPr>
            </a:pPr>
            <a:r>
              <a:rPr sz="1950" b="1">
                <a:solidFill>
                  <a:srgbClr val="6DCBF4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6B3A1-93F9-46F2-ACAD-76B28ED0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ราคาป้าย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735F0-D52A-4DA7-9922-B576FFC7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CBF4"/>
                </a:solidFill>
              </a:defRPr>
            </a:pPr>
            <a:r>
              <a:rPr sz="1725" b="1">
                <a:solidFill>
                  <a:srgbClr val="6DCBF4"/>
                </a:solidFill>
              </a:rPr>
              <a:t>2,690 บาท/เครื่อง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A2C9B-6818-4A2A-9DA5-66E3E6C5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F00C4-C35D-4074-9CC6-CA7B2084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CBF4"/>
                </a:solidFill>
              </a:defRPr>
            </a:pPr>
            <a:r>
              <a:rPr sz="1950" b="1">
                <a:solidFill>
                  <a:srgbClr val="6DCBF4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215B9-7A9B-4923-9DFD-F8043B8B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ราคาโปรโมชั่นขั้นต่ำ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77534-A60A-447A-BF6C-4D610C09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2,590 บาท ตามเงื่อนไข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01C63-CB0B-4856-B97A-519BCF56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85097-2974-4F6D-8C36-0B56FE1D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CBF4"/>
                </a:solidFill>
              </a:defRPr>
            </a:pPr>
            <a:r>
              <a:rPr sz="1950" b="1">
                <a:solidFill>
                  <a:srgbClr val="6DCBF4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4A144-1DB3-4651-B61A-08DDE913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เงื่อนไขก่อนขาย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87CBF-B534-438F-BE0F-571C8E35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2437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ผ่าน QC คู่มือ และ Engineering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C9862-C877-4939-890C-B60984F2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529D4-3492-4F2A-9E4F-34099E2F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277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BE3AC-7385-445E-BA25-C2FFC693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ข้อเสนอพร้อมเดินหน้าเมื่อได้รับอนุมัติและผ่านเงื่อนไขทางวิศวกรรม</a:t>
            </a:r>
          </a:p>
        </p:txBody>
      </p:sp>
    </p:spTree>
    <p:extLst>
      <p:ext uri="{BB962C8B-B14F-4D97-AF65-F5344CB8AC3E}">
        <p14:creationId xmlns:p14="http://schemas.microsoft.com/office/powerpoint/2010/main" val="588615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2026-08-20T10:38:19.1000000Z</dcterms:created>
  <dcterms:modified xsi:type="dcterms:W3CDTF">2026-08-20T10:38:19.1000000Z</dcterms:modified>
</coreProperties>
</file>