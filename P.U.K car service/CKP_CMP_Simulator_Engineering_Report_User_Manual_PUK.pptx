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รายงานทางวิศวกรรมและคู่มือ_CKP_CMP_Simulator_PUK_Car_Service.docx (ผู้ใช้จัดเตรียม, 20 สิงหาคม 2569)</a:t>
            </a:r>
          </a:p>
          <a:p>
            <a:r>
              <a:t>- ภาพตัวเครื่องจำลองและแผนผังวงจรจากเอกสารต้นฉบับ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3BEE86-6516-402E-B965-BF1BF54D87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524500" cy="685800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E99498-D477-4E3A-AD96-133A9219B800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4572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ENGINEERING REPORT</a:t>
            </a:r>
          </a:p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&amp; USER MANUAL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18AAD3-5FCC-4E33-8B66-66A9302F314E}"/>
              </a:ext>
            </a:extLst>
          </p:cNvPr>
          <p:cNvSpPr>
            <a:spLocks noGrp="1"/>
          </p:cNvSpPr>
          <p:nvPr/>
        </p:nvSpPr>
        <p:spPr>
          <a:xfrm>
            <a:off x="457200" y="2333625"/>
            <a:ext cx="447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6DCBF4"/>
                </a:solidFill>
              </a:defRPr>
            </a:pPr>
            <a:r>
              <a:rPr sz="2400" b="1">
                <a:solidFill>
                  <a:srgbClr val="6DCBF4"/>
                </a:solidFill>
              </a:rPr>
              <a:t>RP2040 CKP/CMP</a:t>
            </a:r>
          </a:p>
          <a:p>
            <a:pPr algn="l">
              <a:defRPr sz="2400" b="1">
                <a:solidFill>
                  <a:srgbClr val="6DCBF4"/>
                </a:solidFill>
              </a:defRPr>
            </a:pPr>
            <a:r>
              <a:rPr sz="2400" b="1">
                <a:solidFill>
                  <a:srgbClr val="6DCBF4"/>
                </a:solidFill>
              </a:rPr>
              <a:t>Signal Simulator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48228-732B-4A44-A61D-1703E50A7FC0}"/>
              </a:ext>
            </a:extLst>
          </p:cNvPr>
          <p:cNvSpPr>
            <a:spLocks noGrp="1"/>
          </p:cNvSpPr>
          <p:nvPr/>
        </p:nvSpPr>
        <p:spPr>
          <a:xfrm>
            <a:off x="457200" y="3571875"/>
            <a:ext cx="4476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รายงานทางวิศวกรรมและคู่มือการใช้งาน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D4C970-EFB4-488F-85F2-BD46599A3389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P.U.K Car Service  •  20 สิงหาคม 2569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t="8246" b="8246"/>
          <a:stretch>
            <a:fillRect/>
          </a:stretch>
        </p:blipFill>
        <p:spPr>
          <a:xfrm>
            <a:off x="5619750" y="0"/>
            <a:ext cx="6572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5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C1D072B-4310-4447-94D2-0B2C6779590E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AF8B32-8567-4FE3-99CD-9B5ED7C5A394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ระบบสร้าง CKP/CMP แบบ Stand-alone โดยแยกงานสัญญาณออกจากงาน UI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E7598D-244C-4B8A-ADE8-479981923880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F747FB-929D-436B-A6C2-4A0F3BD8B72B}"/>
              </a:ext>
            </a:extLst>
          </p:cNvPr>
          <p:cNvSpPr>
            <a:spLocks noGrp="1"/>
          </p:cNvSpPr>
          <p:nvPr/>
        </p:nvSpPr>
        <p:spPr>
          <a:xfrm>
            <a:off x="457200" y="1666875"/>
            <a:ext cx="2381250" cy="14287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7752A3-639C-4B7C-A579-BE9D95B0D83C}"/>
              </a:ext>
            </a:extLst>
          </p:cNvPr>
          <p:cNvSpPr>
            <a:spLocks noGrp="1"/>
          </p:cNvSpPr>
          <p:nvPr/>
        </p:nvSpPr>
        <p:spPr>
          <a:xfrm>
            <a:off x="647700" y="1857375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464F4"/>
                </a:solidFill>
              </a:defRPr>
            </a:pPr>
            <a:r>
              <a:rPr sz="2775" b="1">
                <a:solidFill>
                  <a:srgbClr val="1464F4"/>
                </a:solidFill>
              </a:rPr>
              <a:t>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FCEB65-2EF2-44C8-B94B-F728771F3000}"/>
              </a:ext>
            </a:extLst>
          </p:cNvPr>
          <p:cNvSpPr>
            <a:spLocks noGrp="1"/>
          </p:cNvSpPr>
          <p:nvPr/>
        </p:nvSpPr>
        <p:spPr>
          <a:xfrm>
            <a:off x="647700" y="25241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Engine Patterns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7FB2A8-90CB-4DEC-B3D3-CD8B334B7B15}"/>
              </a:ext>
            </a:extLst>
          </p:cNvPr>
          <p:cNvSpPr>
            <a:spLocks noGrp="1"/>
          </p:cNvSpPr>
          <p:nvPr/>
        </p:nvSpPr>
        <p:spPr>
          <a:xfrm>
            <a:off x="3267075" y="1666875"/>
            <a:ext cx="2381250" cy="14287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3A45FE-B0E7-4371-997A-4266B1ADABBF}"/>
              </a:ext>
            </a:extLst>
          </p:cNvPr>
          <p:cNvSpPr>
            <a:spLocks noGrp="1"/>
          </p:cNvSpPr>
          <p:nvPr/>
        </p:nvSpPr>
        <p:spPr>
          <a:xfrm>
            <a:off x="3457575" y="1857375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464F4"/>
                </a:solidFill>
              </a:defRPr>
            </a:pPr>
            <a:r>
              <a:rPr sz="2775" b="1">
                <a:solidFill>
                  <a:srgbClr val="1464F4"/>
                </a:solidFill>
              </a:rPr>
              <a:t>100–15,000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125EF-B0DA-4DD4-8380-41D6EFF33A2E}"/>
              </a:ext>
            </a:extLst>
          </p:cNvPr>
          <p:cNvSpPr>
            <a:spLocks noGrp="1"/>
          </p:cNvSpPr>
          <p:nvPr/>
        </p:nvSpPr>
        <p:spPr>
          <a:xfrm>
            <a:off x="3457575" y="25241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RPM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2DD6EA-1D5E-4169-AD77-7CA102EAECDD}"/>
              </a:ext>
            </a:extLst>
          </p:cNvPr>
          <p:cNvSpPr>
            <a:spLocks noGrp="1"/>
          </p:cNvSpPr>
          <p:nvPr/>
        </p:nvSpPr>
        <p:spPr>
          <a:xfrm>
            <a:off x="6076950" y="1666875"/>
            <a:ext cx="2381250" cy="14287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039B4C-2A20-4D0A-B47A-408BAB42185B}"/>
              </a:ext>
            </a:extLst>
          </p:cNvPr>
          <p:cNvSpPr>
            <a:spLocks noGrp="1"/>
          </p:cNvSpPr>
          <p:nvPr/>
        </p:nvSpPr>
        <p:spPr>
          <a:xfrm>
            <a:off x="6267450" y="1857375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464F4"/>
                </a:solidFill>
              </a:defRPr>
            </a:pPr>
            <a:r>
              <a:rPr sz="2775" b="1">
                <a:solidFill>
                  <a:srgbClr val="1464F4"/>
                </a:solidFill>
              </a:rPr>
              <a:t>10 / 100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A13EA0-95C9-4749-A023-946FDD3A61A1}"/>
              </a:ext>
            </a:extLst>
          </p:cNvPr>
          <p:cNvSpPr>
            <a:spLocks noGrp="1"/>
          </p:cNvSpPr>
          <p:nvPr/>
        </p:nvSpPr>
        <p:spPr>
          <a:xfrm>
            <a:off x="6267450" y="25241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RPM Step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15A1FD-0AC1-4757-B0A4-C53CDEC01F34}"/>
              </a:ext>
            </a:extLst>
          </p:cNvPr>
          <p:cNvSpPr>
            <a:spLocks noGrp="1"/>
          </p:cNvSpPr>
          <p:nvPr/>
        </p:nvSpPr>
        <p:spPr>
          <a:xfrm>
            <a:off x="8886825" y="1666875"/>
            <a:ext cx="2381250" cy="14287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D675C-35E1-44C4-8693-357D3EE6A755}"/>
              </a:ext>
            </a:extLst>
          </p:cNvPr>
          <p:cNvSpPr>
            <a:spLocks noGrp="1"/>
          </p:cNvSpPr>
          <p:nvPr/>
        </p:nvSpPr>
        <p:spPr>
          <a:xfrm>
            <a:off x="9077325" y="1857375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464F4"/>
                </a:solidFill>
              </a:defRPr>
            </a:pPr>
            <a:r>
              <a:rPr sz="2775" b="1">
                <a:solidFill>
                  <a:srgbClr val="1464F4"/>
                </a:solidFill>
              </a:rPr>
              <a:t>3.3V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1A8C9-B33C-426A-B947-3B9138EB22A6}"/>
              </a:ext>
            </a:extLst>
          </p:cNvPr>
          <p:cNvSpPr>
            <a:spLocks noGrp="1"/>
          </p:cNvSpPr>
          <p:nvPr/>
        </p:nvSpPr>
        <p:spPr>
          <a:xfrm>
            <a:off x="9077325" y="25241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Logic 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7957D4-94DA-4596-8EA1-3974B174820E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85725" cy="8572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F4D810-2A53-4330-8C65-DDBBAD357FC4}"/>
              </a:ext>
            </a:extLst>
          </p:cNvPr>
          <p:cNvSpPr>
            <a:spLocks noGrp="1"/>
          </p:cNvSpPr>
          <p:nvPr/>
        </p:nvSpPr>
        <p:spPr>
          <a:xfrm>
            <a:off x="904875" y="3619500"/>
            <a:ext cx="10334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RP2040 + PIO สร้างพัลส์ CKP/CMP ที่จังหวะสม่ำเสมอ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D8C080-67D6-435A-8CD8-681C91A1FA81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85725" cy="8572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53682B-9BCC-4DB1-96B0-B649E3164CB5}"/>
              </a:ext>
            </a:extLst>
          </p:cNvPr>
          <p:cNvSpPr>
            <a:spLocks noGrp="1"/>
          </p:cNvSpPr>
          <p:nvPr/>
        </p:nvSpPr>
        <p:spPr>
          <a:xfrm>
            <a:off x="904875" y="4191000"/>
            <a:ext cx="10334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เลือก Pattern ด้วยปุ่ม 3 ปุ่ม ปรับรอบด้วย KY-040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8A944E-64C5-48E9-94AF-2DFE00AE9FA6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85725" cy="8572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86F973-F946-41C8-94E5-9C7CA711AF7B}"/>
              </a:ext>
            </a:extLst>
          </p:cNvPr>
          <p:cNvSpPr>
            <a:spLocks noGrp="1"/>
          </p:cNvSpPr>
          <p:nvPr/>
        </p:nvSpPr>
        <p:spPr>
          <a:xfrm>
            <a:off x="904875" y="4762500"/>
            <a:ext cx="10334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OLED 1.3 นิ้วรองรับ SH1106 หรือ SSD1306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DEEA7F-08E7-4CD6-870A-7D509030254D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85725" cy="8572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A6C061-270B-4A81-AE5F-094A44D29832}"/>
              </a:ext>
            </a:extLst>
          </p:cNvPr>
          <p:cNvSpPr>
            <a:spLocks noGrp="1"/>
          </p:cNvSpPr>
          <p:nvPr/>
        </p:nvSpPr>
        <p:spPr>
          <a:xfrm>
            <a:off x="904875" y="5334000"/>
            <a:ext cx="10334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ไฟล์ main.py เริ่มทำงานอัตโนมัติหลัง Boot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F1774A-42FB-4748-B0A6-3668B7EC96B1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037F27-9E04-4E3F-BDD6-F4944E80AC33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570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7BA341E-D38B-4641-8815-7ABD0254D82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3D4D1C-1767-4CF9-9CA7-AAFD6D541D06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ข้อจำกัดสำคัญ: เอาต์พุต 3.3V ยังไม่ใช่สัญญาณ Automotive ที่รับรองแล้ว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BA5A8-FCC6-41B0-A211-DA31A44CA0B8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67499-1FF2-4136-B783-E2D9CFD5D7D2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11277600" cy="1190625"/>
          </a:xfrm>
          <a:prstGeom prst="rect">
            <a:avLst/>
          </a:prstGeom>
          <a:solidFill>
            <a:srgbClr val="C93C3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8E201A-6EFF-48C1-A29E-FDD1A49673C8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ห้ามต่อเข้ารถหรือ ECU โดยตรง จนกว่าจะยืนยันชนิดอินพุต ระดับแรงดัน กราวด์ และวงจร Buffer / Isolation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2A571E-DF00-4929-848E-53B8287EDE72}"/>
              </a:ext>
            </a:extLst>
          </p:cNvPr>
          <p:cNvSpPr>
            <a:spLocks noGrp="1"/>
          </p:cNvSpPr>
          <p:nvPr/>
        </p:nvSpPr>
        <p:spPr>
          <a:xfrm>
            <a:off x="457200" y="33337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422EE-533E-46CA-BCC1-B26FA0961204}"/>
              </a:ext>
            </a:extLst>
          </p:cNvPr>
          <p:cNvSpPr>
            <a:spLocks noGrp="1"/>
          </p:cNvSpPr>
          <p:nvPr/>
        </p:nvSpPr>
        <p:spPr>
          <a:xfrm>
            <a:off x="457200" y="3762375"/>
            <a:ext cx="242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Input compatibility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FA178-D5F0-4C37-A571-00B97FFA76DC}"/>
              </a:ext>
            </a:extLst>
          </p:cNvPr>
          <p:cNvSpPr>
            <a:spLocks noGrp="1"/>
          </p:cNvSpPr>
          <p:nvPr/>
        </p:nvSpPr>
        <p:spPr>
          <a:xfrm>
            <a:off x="457200" y="4238625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ชนิด Hall / Open-collector / VR และ Pull-up/down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6DEB3F-5656-4E9C-B44D-F6FE067F5B63}"/>
              </a:ext>
            </a:extLst>
          </p:cNvPr>
          <p:cNvSpPr>
            <a:spLocks noGrp="1"/>
          </p:cNvSpPr>
          <p:nvPr/>
        </p:nvSpPr>
        <p:spPr>
          <a:xfrm>
            <a:off x="3267075" y="33337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D22B7-5E1B-46E8-A972-1712C226B639}"/>
              </a:ext>
            </a:extLst>
          </p:cNvPr>
          <p:cNvSpPr>
            <a:spLocks noGrp="1"/>
          </p:cNvSpPr>
          <p:nvPr/>
        </p:nvSpPr>
        <p:spPr>
          <a:xfrm>
            <a:off x="3267075" y="3762375"/>
            <a:ext cx="242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Protection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F93B7D-1288-49B6-A0B6-5C32C3E65198}"/>
              </a:ext>
            </a:extLst>
          </p:cNvPr>
          <p:cNvSpPr>
            <a:spLocks noGrp="1"/>
          </p:cNvSpPr>
          <p:nvPr/>
        </p:nvSpPr>
        <p:spPr>
          <a:xfrm>
            <a:off x="3267075" y="4238625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กระแสย้อน ต่อผิดขั้ว แรงดันเกิน และ Ground loop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6E52D8-F23B-4FE1-876E-3422AE34EBCE}"/>
              </a:ext>
            </a:extLst>
          </p:cNvPr>
          <p:cNvSpPr>
            <a:spLocks noGrp="1"/>
          </p:cNvSpPr>
          <p:nvPr/>
        </p:nvSpPr>
        <p:spPr>
          <a:xfrm>
            <a:off x="6076950" y="33337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CBF51-9598-4605-92DF-78240BA28A09}"/>
              </a:ext>
            </a:extLst>
          </p:cNvPr>
          <p:cNvSpPr>
            <a:spLocks noGrp="1"/>
          </p:cNvSpPr>
          <p:nvPr/>
        </p:nvSpPr>
        <p:spPr>
          <a:xfrm>
            <a:off x="6076950" y="3762375"/>
            <a:ext cx="242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69D755-1B94-4F3D-9291-BEE6AAB94176}"/>
              </a:ext>
            </a:extLst>
          </p:cNvPr>
          <p:cNvSpPr>
            <a:spLocks noGrp="1"/>
          </p:cNvSpPr>
          <p:nvPr/>
        </p:nvSpPr>
        <p:spPr>
          <a:xfrm>
            <a:off x="6076950" y="4238625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ตรวจ Amplitude, Frequency, Duty, Missing tooth และ CMP phase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1349A0-13CD-4938-869D-C0C3CA54B4C9}"/>
              </a:ext>
            </a:extLst>
          </p:cNvPr>
          <p:cNvSpPr>
            <a:spLocks noGrp="1"/>
          </p:cNvSpPr>
          <p:nvPr/>
        </p:nvSpPr>
        <p:spPr>
          <a:xfrm>
            <a:off x="8886825" y="33337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10ED85-11A7-4AD7-A416-120236668E3B}"/>
              </a:ext>
            </a:extLst>
          </p:cNvPr>
          <p:cNvSpPr>
            <a:spLocks noGrp="1"/>
          </p:cNvSpPr>
          <p:nvPr/>
        </p:nvSpPr>
        <p:spPr>
          <a:xfrm>
            <a:off x="8886825" y="3762375"/>
            <a:ext cx="242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Operating limit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989F75-FE79-4E6B-9C45-327B28C17677}"/>
              </a:ext>
            </a:extLst>
          </p:cNvPr>
          <p:cNvSpPr>
            <a:spLocks noGrp="1"/>
          </p:cNvSpPr>
          <p:nvPr/>
        </p:nvSpPr>
        <p:spPr>
          <a:xfrm>
            <a:off x="8886825" y="4238625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พิสูจน์ Accuracy/Jitter ทุก Pattern ตลอดช่วง RPM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96C25-D8AD-4C1F-8A04-4A63886D057A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07AFF0-E283-45FF-9DF6-87BD8FA82CAC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777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3693D8A-12CC-4A43-8297-A43BEB5DA45C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473DB9-FE5C-4FE0-B409-B4EDBB517375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แผงหน้าจัดลำดับจากการมองข้อมูล → ควบคุม → จ่ายไฟ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CF4F1D-ED92-4F62-83CB-D1F812D2B640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23316" y="1476375"/>
            <a:ext cx="3697018" cy="4619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0D0B3D-E336-448D-A3FF-23A89B580C0E}"/>
              </a:ext>
            </a:extLst>
          </p:cNvPr>
          <p:cNvSpPr>
            <a:spLocks noGrp="1"/>
          </p:cNvSpPr>
          <p:nvPr/>
        </p:nvSpPr>
        <p:spPr>
          <a:xfrm>
            <a:off x="6286500" y="1476375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7F6ED-A7EA-443E-B4CC-2238AA12C65B}"/>
              </a:ext>
            </a:extLst>
          </p:cNvPr>
          <p:cNvSpPr>
            <a:spLocks noGrp="1"/>
          </p:cNvSpPr>
          <p:nvPr/>
        </p:nvSpPr>
        <p:spPr>
          <a:xfrm>
            <a:off x="6762750" y="14763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OLED 1.3"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050C36-3307-4B80-9399-D01D2D299092}"/>
              </a:ext>
            </a:extLst>
          </p:cNvPr>
          <p:cNvSpPr>
            <a:spLocks noGrp="1"/>
          </p:cNvSpPr>
          <p:nvPr/>
        </p:nvSpPr>
        <p:spPr>
          <a:xfrm>
            <a:off x="8763000" y="1476375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แสดง Pattern, RPM และ Step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352163-53DA-404E-8316-5EE30E1BAE01}"/>
              </a:ext>
            </a:extLst>
          </p:cNvPr>
          <p:cNvSpPr>
            <a:spLocks noGrp="1"/>
          </p:cNvSpPr>
          <p:nvPr/>
        </p:nvSpPr>
        <p:spPr>
          <a:xfrm>
            <a:off x="6286500" y="2219325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5BAEF2-2560-41D0-9826-4F2FDF096FD3}"/>
              </a:ext>
            </a:extLst>
          </p:cNvPr>
          <p:cNvSpPr>
            <a:spLocks noGrp="1"/>
          </p:cNvSpPr>
          <p:nvPr/>
        </p:nvSpPr>
        <p:spPr>
          <a:xfrm>
            <a:off x="6762750" y="221932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3 ปุ่มสีแดง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965B04-B1C0-4DE7-A4D2-9E27DD4FCC43}"/>
              </a:ext>
            </a:extLst>
          </p:cNvPr>
          <p:cNvSpPr>
            <a:spLocks noGrp="1"/>
          </p:cNvSpPr>
          <p:nvPr/>
        </p:nvSpPr>
        <p:spPr>
          <a:xfrm>
            <a:off x="8763000" y="2219325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LEFT / CENTER / RIGHT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0CD623-8A3D-4AD7-A501-D08BF5A67972}"/>
              </a:ext>
            </a:extLst>
          </p:cNvPr>
          <p:cNvSpPr>
            <a:spLocks noGrp="1"/>
          </p:cNvSpPr>
          <p:nvPr/>
        </p:nvSpPr>
        <p:spPr>
          <a:xfrm>
            <a:off x="6286500" y="2962275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4DAE6-B416-4A59-80FE-1EFDCA0D7827}"/>
              </a:ext>
            </a:extLst>
          </p:cNvPr>
          <p:cNvSpPr>
            <a:spLocks noGrp="1"/>
          </p:cNvSpPr>
          <p:nvPr/>
        </p:nvSpPr>
        <p:spPr>
          <a:xfrm>
            <a:off x="6762750" y="29622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KY-040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AB8A26-BD71-4E9B-B972-38F3E916DCB6}"/>
              </a:ext>
            </a:extLst>
          </p:cNvPr>
          <p:cNvSpPr>
            <a:spLocks noGrp="1"/>
          </p:cNvSpPr>
          <p:nvPr/>
        </p:nvSpPr>
        <p:spPr>
          <a:xfrm>
            <a:off x="8763000" y="2962275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หมุนปรับ RPM; กดสลับ Step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23C5DB-2162-4E5C-8C9D-E35E9229E7F2}"/>
              </a:ext>
            </a:extLst>
          </p:cNvPr>
          <p:cNvSpPr>
            <a:spLocks noGrp="1"/>
          </p:cNvSpPr>
          <p:nvPr/>
        </p:nvSpPr>
        <p:spPr>
          <a:xfrm>
            <a:off x="6286500" y="3705225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BEA97F-580B-4BFD-B59C-2ED3ADC730A9}"/>
              </a:ext>
            </a:extLst>
          </p:cNvPr>
          <p:cNvSpPr>
            <a:spLocks noGrp="1"/>
          </p:cNvSpPr>
          <p:nvPr/>
        </p:nvSpPr>
        <p:spPr>
          <a:xfrm>
            <a:off x="6762750" y="370522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สวิตช์แดง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514091-44FE-4D15-B708-F7B341048429}"/>
              </a:ext>
            </a:extLst>
          </p:cNvPr>
          <p:cNvSpPr>
            <a:spLocks noGrp="1"/>
          </p:cNvSpPr>
          <p:nvPr/>
        </p:nvSpPr>
        <p:spPr>
          <a:xfrm>
            <a:off x="8763000" y="3705225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ตัด–ต่อไฟหลัก ไม่ใช่ Software RUN/STOP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D4B49E-E4B2-430A-988E-34B8B113E2EA}"/>
              </a:ext>
            </a:extLst>
          </p:cNvPr>
          <p:cNvSpPr>
            <a:spLocks noGrp="1"/>
          </p:cNvSpPr>
          <p:nvPr/>
        </p:nvSpPr>
        <p:spPr>
          <a:xfrm>
            <a:off x="6286500" y="4448175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219DCD-5651-42CB-A52D-E1C0266107D7}"/>
              </a:ext>
            </a:extLst>
          </p:cNvPr>
          <p:cNvSpPr>
            <a:spLocks noGrp="1"/>
          </p:cNvSpPr>
          <p:nvPr/>
        </p:nvSpPr>
        <p:spPr>
          <a:xfrm>
            <a:off x="6762750" y="44481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CMP / CKP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38D0A2-42B1-44E1-859C-E1D2FDC456A3}"/>
              </a:ext>
            </a:extLst>
          </p:cNvPr>
          <p:cNvSpPr>
            <a:spLocks noGrp="1"/>
          </p:cNvSpPr>
          <p:nvPr/>
        </p:nvSpPr>
        <p:spPr>
          <a:xfrm>
            <a:off x="8763000" y="4448175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สาย Logic Output 3.3V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416014-8B1A-40F9-83BE-F8EE9C91FB97}"/>
              </a:ext>
            </a:extLst>
          </p:cNvPr>
          <p:cNvSpPr>
            <a:spLocks noGrp="1"/>
          </p:cNvSpPr>
          <p:nvPr/>
        </p:nvSpPr>
        <p:spPr>
          <a:xfrm>
            <a:off x="6286500" y="5191125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19C8B7-F507-448C-986C-73AEC8FB182E}"/>
              </a:ext>
            </a:extLst>
          </p:cNvPr>
          <p:cNvSpPr>
            <a:spLocks noGrp="1"/>
          </p:cNvSpPr>
          <p:nvPr/>
        </p:nvSpPr>
        <p:spPr>
          <a:xfrm>
            <a:off x="6762750" y="519112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Adapter 12V 2A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22A992-73DE-4122-A6DD-2141ADC9C199}"/>
              </a:ext>
            </a:extLst>
          </p:cNvPr>
          <p:cNvSpPr>
            <a:spLocks noGrp="1"/>
          </p:cNvSpPr>
          <p:nvPr/>
        </p:nvSpPr>
        <p:spPr>
          <a:xfrm>
            <a:off x="8763000" y="5191125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จ่ายผ่าน Buck 12V→5V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4FEA86-2A3C-418E-BD74-06DE46AE33A3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6D3B1B-E18F-4709-8345-63EE62261638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009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EE00FB9-91C3-4F9C-A9F8-99D534338A2E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B4AB34-E8BB-4B05-BBC4-6FBBEF28C300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เส้นทางพลังงานต้องลด 12V เป็น 5.0V ก่อนเข้าสู่ VSYS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EB8A2-C6C5-474C-9191-BB665309B551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BB692F-B391-46CF-9CDA-726D563295B0}"/>
              </a:ext>
            </a:extLst>
          </p:cNvPr>
          <p:cNvSpPr>
            <a:spLocks noGrp="1"/>
          </p:cNvSpPr>
          <p:nvPr/>
        </p:nvSpPr>
        <p:spPr>
          <a:xfrm>
            <a:off x="2571750" y="2905125"/>
            <a:ext cx="904875" cy="0"/>
          </a:xfrm>
          <a:prstGeom prst="line">
            <a:avLst/>
          </a:prstGeom>
          <a:ln w="38100">
            <a:solidFill>
              <a:srgbClr val="1464F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88D6482-B437-4F52-95B2-7B887983C701}"/>
              </a:ext>
            </a:extLst>
          </p:cNvPr>
          <p:cNvSpPr>
            <a:spLocks noGrp="1"/>
          </p:cNvSpPr>
          <p:nvPr/>
        </p:nvSpPr>
        <p:spPr>
          <a:xfrm>
            <a:off x="5381625" y="2905125"/>
            <a:ext cx="904875" cy="0"/>
          </a:xfrm>
          <a:prstGeom prst="line">
            <a:avLst/>
          </a:prstGeom>
          <a:ln w="38100">
            <a:solidFill>
              <a:srgbClr val="1464F4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01986D3-FB66-4C11-8F3B-9EDE516F3E4C}"/>
              </a:ext>
            </a:extLst>
          </p:cNvPr>
          <p:cNvSpPr>
            <a:spLocks noGrp="1"/>
          </p:cNvSpPr>
          <p:nvPr/>
        </p:nvSpPr>
        <p:spPr>
          <a:xfrm>
            <a:off x="8191500" y="2905125"/>
            <a:ext cx="904875" cy="0"/>
          </a:xfrm>
          <a:prstGeom prst="line">
            <a:avLst/>
          </a:prstGeom>
          <a:ln w="38100">
            <a:solidFill>
              <a:srgbClr val="1464F4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6E1119-9FFC-456F-80BD-75D454902BF8}"/>
              </a:ext>
            </a:extLst>
          </p:cNvPr>
          <p:cNvSpPr>
            <a:spLocks noGrp="1"/>
          </p:cNvSpPr>
          <p:nvPr/>
        </p:nvSpPr>
        <p:spPr>
          <a:xfrm>
            <a:off x="457200" y="2238375"/>
            <a:ext cx="2095500" cy="1381125"/>
          </a:xfrm>
          <a:prstGeom prst="roundRect">
            <a:avLst>
              <a:gd name="adj" fmla="val 82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AC5DB1-6783-42C7-8A70-6FD56A315B27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Adapter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784B3-EFC8-4328-96A9-BE8CBCE03E8A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1752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12V DC 2A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2C5ABA-F464-412D-8DE5-5787586C9082}"/>
              </a:ext>
            </a:extLst>
          </p:cNvPr>
          <p:cNvSpPr>
            <a:spLocks noGrp="1"/>
          </p:cNvSpPr>
          <p:nvPr/>
        </p:nvSpPr>
        <p:spPr>
          <a:xfrm>
            <a:off x="3267075" y="2238375"/>
            <a:ext cx="2095500" cy="1381125"/>
          </a:xfrm>
          <a:prstGeom prst="roundRect">
            <a:avLst>
              <a:gd name="adj" fmla="val 8276"/>
            </a:avLst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61E57B-7FC8-4735-8819-78E4FC83E1B8}"/>
              </a:ext>
            </a:extLst>
          </p:cNvPr>
          <p:cNvSpPr>
            <a:spLocks noGrp="1"/>
          </p:cNvSpPr>
          <p:nvPr/>
        </p:nvSpPr>
        <p:spPr>
          <a:xfrm>
            <a:off x="3438525" y="24288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Buck Converter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5442DB-5EFA-4DB0-A82A-3584AE4EFD4F}"/>
              </a:ext>
            </a:extLst>
          </p:cNvPr>
          <p:cNvSpPr>
            <a:spLocks noGrp="1"/>
          </p:cNvSpPr>
          <p:nvPr/>
        </p:nvSpPr>
        <p:spPr>
          <a:xfrm>
            <a:off x="3438525" y="2952750"/>
            <a:ext cx="1752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ปรับเป็น 5.0V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23C235-D720-4B12-B18D-D9022AFB0597}"/>
              </a:ext>
            </a:extLst>
          </p:cNvPr>
          <p:cNvSpPr>
            <a:spLocks noGrp="1"/>
          </p:cNvSpPr>
          <p:nvPr/>
        </p:nvSpPr>
        <p:spPr>
          <a:xfrm>
            <a:off x="6076950" y="2238375"/>
            <a:ext cx="2095500" cy="1381125"/>
          </a:xfrm>
          <a:prstGeom prst="roundRect">
            <a:avLst>
              <a:gd name="adj" fmla="val 82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A1DF37-AD54-4374-9335-8670A3EDA06A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RP2040 VSYS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FF2F9D-F493-4072-8055-684D643DE3C4}"/>
              </a:ext>
            </a:extLst>
          </p:cNvPr>
          <p:cNvSpPr>
            <a:spLocks noGrp="1"/>
          </p:cNvSpPr>
          <p:nvPr/>
        </p:nvSpPr>
        <p:spPr>
          <a:xfrm>
            <a:off x="6248400" y="2952750"/>
            <a:ext cx="1752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รับไฟ 5V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E4E765-FEB0-439F-B4EE-E4328058FC1B}"/>
              </a:ext>
            </a:extLst>
          </p:cNvPr>
          <p:cNvSpPr>
            <a:spLocks noGrp="1"/>
          </p:cNvSpPr>
          <p:nvPr/>
        </p:nvSpPr>
        <p:spPr>
          <a:xfrm>
            <a:off x="8886825" y="2238375"/>
            <a:ext cx="2095500" cy="1381125"/>
          </a:xfrm>
          <a:prstGeom prst="roundRect">
            <a:avLst>
              <a:gd name="adj" fmla="val 82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87EB37-51BF-4AAF-BC2F-D1AA36890499}"/>
              </a:ext>
            </a:extLst>
          </p:cNvPr>
          <p:cNvSpPr>
            <a:spLocks noGrp="1"/>
          </p:cNvSpPr>
          <p:nvPr/>
        </p:nvSpPr>
        <p:spPr>
          <a:xfrm>
            <a:off x="9058275" y="24288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3V3 Rail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65440B-A733-4540-AACE-2B122A9CE8D9}"/>
              </a:ext>
            </a:extLst>
          </p:cNvPr>
          <p:cNvSpPr>
            <a:spLocks noGrp="1"/>
          </p:cNvSpPr>
          <p:nvPr/>
        </p:nvSpPr>
        <p:spPr>
          <a:xfrm>
            <a:off x="9058275" y="2952750"/>
            <a:ext cx="1752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OLED + KY-040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659B39-2950-4989-A89B-F70423CBD407}"/>
              </a:ext>
            </a:extLst>
          </p:cNvPr>
          <p:cNvSpPr>
            <a:spLocks noGrp="1"/>
          </p:cNvSpPr>
          <p:nvPr/>
        </p:nvSpPr>
        <p:spPr>
          <a:xfrm>
            <a:off x="457200" y="4429125"/>
            <a:ext cx="11277600" cy="95250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1DB479-12BF-4494-8F47-B28FED3F65BB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ก่อนเปิดเครื่องครั้งแรก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2C1A7A-BF84-40F8-B720-3C135E36C5F5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800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6DCBF4"/>
                </a:solidFill>
              </a:defRPr>
            </a:pPr>
            <a:r>
              <a:rPr sz="1725" b="1">
                <a:solidFill>
                  <a:srgbClr val="6DCBF4"/>
                </a:solidFill>
              </a:rPr>
              <a:t>วัด Buck Output ให้ได้ 5.0V ก่อนต่อ VSYS — ห้ามป้อน 12V เข้าบอร์ดโดยตรง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C2FA11-9575-4BDD-A8E0-72EBFF121AFF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1057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GND ของ Adapter, Buck, RP2040, OLED, Encoder, ปุ่ม และ Signal Output ต้องร่วมกัน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31029F-2099-4F82-B4EC-4841BCDC3CE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BCDC6E-8CE9-4EB3-9CF3-929016FC9BE6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76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9EC5E9-E43A-4DF6-8E83-860AF84F90B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52D0E-C267-4CC6-83B9-E6A56ABD3DDD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แผนผัง Stand-alone รวมไฟเลี้ยง UI และสัญญาณเอาต์พุตไว้ครบ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B9424-03E9-449F-9AB7-34A1DCF05C98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0321" y="1381125"/>
            <a:ext cx="3811359" cy="476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34E746-76F8-49FC-8796-80B6C8AB1720}"/>
              </a:ext>
            </a:extLst>
          </p:cNvPr>
          <p:cNvSpPr>
            <a:spLocks noGrp="1"/>
          </p:cNvSpPr>
          <p:nvPr/>
        </p:nvSpPr>
        <p:spPr>
          <a:xfrm>
            <a:off x="457200" y="6048375"/>
            <a:ext cx="1127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จุดตรวจหลัก: 5V OUT • 3V3 • Common GND • OLED 0x3C • CMP GPIO14 • CKP GPIO15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964234-4587-40F1-AB6F-D54A76262154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F93C8-2FBF-4F76-8D5C-9D95D7896975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255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957E3BC8-3BCF-475B-AFFB-66076D3031F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BE56A7-8A6F-4EB0-A1AD-B00F1357B384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GPIO ถูกแบ่งเป็น OLED, ปุ่ม, Encoder และ PIO Output อย่างชัดเจน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A3F2B7-463E-4C6E-8A6C-ED6EC5C2C816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7B1A3-1CC1-4434-93A7-53C89F209BD5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2095500" cy="523875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AB5DB-D9BC-427E-BF77-68A8B9A71AE2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GPIO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B0172-E80D-43A7-89EF-7522A1189602}"/>
              </a:ext>
            </a:extLst>
          </p:cNvPr>
          <p:cNvSpPr>
            <a:spLocks noGrp="1"/>
          </p:cNvSpPr>
          <p:nvPr/>
        </p:nvSpPr>
        <p:spPr>
          <a:xfrm>
            <a:off x="2571750" y="1571625"/>
            <a:ext cx="3619500" cy="523875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FECD0-D109-41C5-BE66-34BB7961767C}"/>
              </a:ext>
            </a:extLst>
          </p:cNvPr>
          <p:cNvSpPr>
            <a:spLocks noGrp="1"/>
          </p:cNvSpPr>
          <p:nvPr/>
        </p:nvSpPr>
        <p:spPr>
          <a:xfrm>
            <a:off x="2686050" y="1638300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สัญญาณ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D5ED6A-066E-4B53-AE0A-87C08C93AB0E}"/>
              </a:ext>
            </a:extLst>
          </p:cNvPr>
          <p:cNvSpPr>
            <a:spLocks noGrp="1"/>
          </p:cNvSpPr>
          <p:nvPr/>
        </p:nvSpPr>
        <p:spPr>
          <a:xfrm>
            <a:off x="6191250" y="1571625"/>
            <a:ext cx="5543550" cy="523875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6C6568-92DB-4824-897E-354041B01A8B}"/>
              </a:ext>
            </a:extLst>
          </p:cNvPr>
          <p:cNvSpPr>
            <a:spLocks noGrp="1"/>
          </p:cNvSpPr>
          <p:nvPr/>
        </p:nvSpPr>
        <p:spPr>
          <a:xfrm>
            <a:off x="6305550" y="1638300"/>
            <a:ext cx="531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หน้าที่ / ลอจิก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AC292D-2E94-4A4D-AE2C-1D6AD83E33F5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209550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0EE2DA-552A-4E27-9006-3ABB5BBCF84B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GPIO4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B3D133-5DDB-4339-8239-944B3A51EBFD}"/>
              </a:ext>
            </a:extLst>
          </p:cNvPr>
          <p:cNvSpPr>
            <a:spLocks noGrp="1"/>
          </p:cNvSpPr>
          <p:nvPr/>
        </p:nvSpPr>
        <p:spPr>
          <a:xfrm>
            <a:off x="2571750" y="2095500"/>
            <a:ext cx="361950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EE0BCB-529B-4F35-A32A-7939EFD864A0}"/>
              </a:ext>
            </a:extLst>
          </p:cNvPr>
          <p:cNvSpPr>
            <a:spLocks noGrp="1"/>
          </p:cNvSpPr>
          <p:nvPr/>
        </p:nvSpPr>
        <p:spPr>
          <a:xfrm>
            <a:off x="2686050" y="2152650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OLED SDA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2CA4D-834A-4728-97EE-1BC4FFFF7048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54355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09607D-66EC-4A8B-9E48-24B4CF27D5C6}"/>
              </a:ext>
            </a:extLst>
          </p:cNvPr>
          <p:cNvSpPr>
            <a:spLocks noGrp="1"/>
          </p:cNvSpPr>
          <p:nvPr/>
        </p:nvSpPr>
        <p:spPr>
          <a:xfrm>
            <a:off x="6305550" y="2152650"/>
            <a:ext cx="531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I2C0 / 3.3V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6E7070-B825-43E3-9E88-255AB040D0A6}"/>
              </a:ext>
            </a:extLst>
          </p:cNvPr>
          <p:cNvSpPr>
            <a:spLocks noGrp="1"/>
          </p:cNvSpPr>
          <p:nvPr/>
        </p:nvSpPr>
        <p:spPr>
          <a:xfrm>
            <a:off x="457200" y="2638425"/>
            <a:ext cx="209550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BE20DC-A12A-44D9-BA34-228F235928B9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GPIO5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1A85F5-94F2-44E5-AE19-99E9F783C4ED}"/>
              </a:ext>
            </a:extLst>
          </p:cNvPr>
          <p:cNvSpPr>
            <a:spLocks noGrp="1"/>
          </p:cNvSpPr>
          <p:nvPr/>
        </p:nvSpPr>
        <p:spPr>
          <a:xfrm>
            <a:off x="2571750" y="2638425"/>
            <a:ext cx="361950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A62BA-599C-4BEB-B5D9-A05AAF113214}"/>
              </a:ext>
            </a:extLst>
          </p:cNvPr>
          <p:cNvSpPr>
            <a:spLocks noGrp="1"/>
          </p:cNvSpPr>
          <p:nvPr/>
        </p:nvSpPr>
        <p:spPr>
          <a:xfrm>
            <a:off x="2686050" y="2695575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OLED SCL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6D1107-55BE-4E4B-AEC1-773AF55BBF4E}"/>
              </a:ext>
            </a:extLst>
          </p:cNvPr>
          <p:cNvSpPr>
            <a:spLocks noGrp="1"/>
          </p:cNvSpPr>
          <p:nvPr/>
        </p:nvSpPr>
        <p:spPr>
          <a:xfrm>
            <a:off x="6191250" y="2638425"/>
            <a:ext cx="554355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BC439-3D86-4A87-B014-BBF3DAB8CA95}"/>
              </a:ext>
            </a:extLst>
          </p:cNvPr>
          <p:cNvSpPr>
            <a:spLocks noGrp="1"/>
          </p:cNvSpPr>
          <p:nvPr/>
        </p:nvSpPr>
        <p:spPr>
          <a:xfrm>
            <a:off x="6305550" y="2695575"/>
            <a:ext cx="531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I2C0 / 3.3V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BA449E-9114-4FAB-9BE1-EA6FA8735534}"/>
              </a:ext>
            </a:extLst>
          </p:cNvPr>
          <p:cNvSpPr>
            <a:spLocks noGrp="1"/>
          </p:cNvSpPr>
          <p:nvPr/>
        </p:nvSpPr>
        <p:spPr>
          <a:xfrm>
            <a:off x="457200" y="3181350"/>
            <a:ext cx="209550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9E7A4-37B0-4CDC-A703-570337D8B819}"/>
              </a:ext>
            </a:extLst>
          </p:cNvPr>
          <p:cNvSpPr>
            <a:spLocks noGrp="1"/>
          </p:cNvSpPr>
          <p:nvPr/>
        </p:nvSpPr>
        <p:spPr>
          <a:xfrm>
            <a:off x="571500" y="3238500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GPIO6 / 7 / 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223105-C711-4081-8E4C-4946B5339088}"/>
              </a:ext>
            </a:extLst>
          </p:cNvPr>
          <p:cNvSpPr>
            <a:spLocks noGrp="1"/>
          </p:cNvSpPr>
          <p:nvPr/>
        </p:nvSpPr>
        <p:spPr>
          <a:xfrm>
            <a:off x="2571750" y="3181350"/>
            <a:ext cx="361950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B3FFE2-CDF1-4418-8D2E-2CA3DEA716E0}"/>
              </a:ext>
            </a:extLst>
          </p:cNvPr>
          <p:cNvSpPr>
            <a:spLocks noGrp="1"/>
          </p:cNvSpPr>
          <p:nvPr/>
        </p:nvSpPr>
        <p:spPr>
          <a:xfrm>
            <a:off x="2686050" y="3238500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LEFT / CENTER / RIGHT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1749D7-5F84-4014-AF9F-513F1586ADBE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554355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70DB05-81DB-4789-9DBC-7E1CC6406CAB}"/>
              </a:ext>
            </a:extLst>
          </p:cNvPr>
          <p:cNvSpPr>
            <a:spLocks noGrp="1"/>
          </p:cNvSpPr>
          <p:nvPr/>
        </p:nvSpPr>
        <p:spPr>
          <a:xfrm>
            <a:off x="6305550" y="3238500"/>
            <a:ext cx="531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Active LOW / Pull-up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7D8970-7EA5-43B9-8B15-F7D9649FA599}"/>
              </a:ext>
            </a:extLst>
          </p:cNvPr>
          <p:cNvSpPr>
            <a:spLocks noGrp="1"/>
          </p:cNvSpPr>
          <p:nvPr/>
        </p:nvSpPr>
        <p:spPr>
          <a:xfrm>
            <a:off x="457200" y="3724275"/>
            <a:ext cx="209550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63ECEF-BDC0-4476-84C0-5D85EE68F935}"/>
              </a:ext>
            </a:extLst>
          </p:cNvPr>
          <p:cNvSpPr>
            <a:spLocks noGrp="1"/>
          </p:cNvSpPr>
          <p:nvPr/>
        </p:nvSpPr>
        <p:spPr>
          <a:xfrm>
            <a:off x="571500" y="3781425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GPIO10 / 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B4DDCB-15DC-4038-B132-CD3F9E5FDCF1}"/>
              </a:ext>
            </a:extLst>
          </p:cNvPr>
          <p:cNvSpPr>
            <a:spLocks noGrp="1"/>
          </p:cNvSpPr>
          <p:nvPr/>
        </p:nvSpPr>
        <p:spPr>
          <a:xfrm>
            <a:off x="2571750" y="3724275"/>
            <a:ext cx="361950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19EA2-9A74-4887-847D-A6C4DB4DC171}"/>
              </a:ext>
            </a:extLst>
          </p:cNvPr>
          <p:cNvSpPr>
            <a:spLocks noGrp="1"/>
          </p:cNvSpPr>
          <p:nvPr/>
        </p:nvSpPr>
        <p:spPr>
          <a:xfrm>
            <a:off x="2686050" y="3781425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KY-040 CLK / DT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14D324-DA08-46B1-A8AD-DD884A85E941}"/>
              </a:ext>
            </a:extLst>
          </p:cNvPr>
          <p:cNvSpPr>
            <a:spLocks noGrp="1"/>
          </p:cNvSpPr>
          <p:nvPr/>
        </p:nvSpPr>
        <p:spPr>
          <a:xfrm>
            <a:off x="6191250" y="3724275"/>
            <a:ext cx="554355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7F4560-9310-4CFB-B95B-A60F2CFFC5F4}"/>
              </a:ext>
            </a:extLst>
          </p:cNvPr>
          <p:cNvSpPr>
            <a:spLocks noGrp="1"/>
          </p:cNvSpPr>
          <p:nvPr/>
        </p:nvSpPr>
        <p:spPr>
          <a:xfrm>
            <a:off x="6305550" y="3781425"/>
            <a:ext cx="531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Pull-up / IRQ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6BB809-79AE-4121-B25E-E888ADB5F435}"/>
              </a:ext>
            </a:extLst>
          </p:cNvPr>
          <p:cNvSpPr>
            <a:spLocks noGrp="1"/>
          </p:cNvSpPr>
          <p:nvPr/>
        </p:nvSpPr>
        <p:spPr>
          <a:xfrm>
            <a:off x="457200" y="4267200"/>
            <a:ext cx="209550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04762D-0C12-41C4-8A53-57B69C74C5C0}"/>
              </a:ext>
            </a:extLst>
          </p:cNvPr>
          <p:cNvSpPr>
            <a:spLocks noGrp="1"/>
          </p:cNvSpPr>
          <p:nvPr/>
        </p:nvSpPr>
        <p:spPr>
          <a:xfrm>
            <a:off x="571500" y="4324350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GPIO12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1B9945-318E-4405-BF76-8281D256FEE4}"/>
              </a:ext>
            </a:extLst>
          </p:cNvPr>
          <p:cNvSpPr>
            <a:spLocks noGrp="1"/>
          </p:cNvSpPr>
          <p:nvPr/>
        </p:nvSpPr>
        <p:spPr>
          <a:xfrm>
            <a:off x="2571750" y="4267200"/>
            <a:ext cx="361950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4699FC-0FDD-4BF6-B927-A4531CA20C3F}"/>
              </a:ext>
            </a:extLst>
          </p:cNvPr>
          <p:cNvSpPr>
            <a:spLocks noGrp="1"/>
          </p:cNvSpPr>
          <p:nvPr/>
        </p:nvSpPr>
        <p:spPr>
          <a:xfrm>
            <a:off x="2686050" y="4324350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KY-040 SW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3A0F15-F132-4431-9773-BFB75D313190}"/>
              </a:ext>
            </a:extLst>
          </p:cNvPr>
          <p:cNvSpPr>
            <a:spLocks noGrp="1"/>
          </p:cNvSpPr>
          <p:nvPr/>
        </p:nvSpPr>
        <p:spPr>
          <a:xfrm>
            <a:off x="6191250" y="4267200"/>
            <a:ext cx="554355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199CC1-32CB-400C-BCF8-AE51114DF230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531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Active LOW / Pull-up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651EFF-0CBE-4B3E-8B38-83E1624369AE}"/>
              </a:ext>
            </a:extLst>
          </p:cNvPr>
          <p:cNvSpPr>
            <a:spLocks noGrp="1"/>
          </p:cNvSpPr>
          <p:nvPr/>
        </p:nvSpPr>
        <p:spPr>
          <a:xfrm>
            <a:off x="457200" y="4810125"/>
            <a:ext cx="209550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0F69554-72D5-40DC-99B9-D63DCB2C8873}"/>
              </a:ext>
            </a:extLst>
          </p:cNvPr>
          <p:cNvSpPr>
            <a:spLocks noGrp="1"/>
          </p:cNvSpPr>
          <p:nvPr/>
        </p:nvSpPr>
        <p:spPr>
          <a:xfrm>
            <a:off x="571500" y="4867275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GPIO14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0B96D4-177B-4E92-AB56-32D6E0C0EA20}"/>
              </a:ext>
            </a:extLst>
          </p:cNvPr>
          <p:cNvSpPr>
            <a:spLocks noGrp="1"/>
          </p:cNvSpPr>
          <p:nvPr/>
        </p:nvSpPr>
        <p:spPr>
          <a:xfrm>
            <a:off x="2571750" y="4810125"/>
            <a:ext cx="361950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578B55-4F54-4A12-9191-10D074C6A0F9}"/>
              </a:ext>
            </a:extLst>
          </p:cNvPr>
          <p:cNvSpPr>
            <a:spLocks noGrp="1"/>
          </p:cNvSpPr>
          <p:nvPr/>
        </p:nvSpPr>
        <p:spPr>
          <a:xfrm>
            <a:off x="2686050" y="4867275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CMP OUT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04EFF99-8B7F-47CE-A259-0939A6265AD1}"/>
              </a:ext>
            </a:extLst>
          </p:cNvPr>
          <p:cNvSpPr>
            <a:spLocks noGrp="1"/>
          </p:cNvSpPr>
          <p:nvPr/>
        </p:nvSpPr>
        <p:spPr>
          <a:xfrm>
            <a:off x="6191250" y="4810125"/>
            <a:ext cx="5543550" cy="504825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45856E9-8AB6-4179-BCD2-78E539417A80}"/>
              </a:ext>
            </a:extLst>
          </p:cNvPr>
          <p:cNvSpPr>
            <a:spLocks noGrp="1"/>
          </p:cNvSpPr>
          <p:nvPr/>
        </p:nvSpPr>
        <p:spPr>
          <a:xfrm>
            <a:off x="6305550" y="4867275"/>
            <a:ext cx="531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PIO bit 0 / 3.3V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A69239-866B-4C84-84EE-2B6B551B2FC9}"/>
              </a:ext>
            </a:extLst>
          </p:cNvPr>
          <p:cNvSpPr>
            <a:spLocks noGrp="1"/>
          </p:cNvSpPr>
          <p:nvPr/>
        </p:nvSpPr>
        <p:spPr>
          <a:xfrm>
            <a:off x="457200" y="5353050"/>
            <a:ext cx="209550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F0B4B3B-68BB-4955-89C9-6807626126B8}"/>
              </a:ext>
            </a:extLst>
          </p:cNvPr>
          <p:cNvSpPr>
            <a:spLocks noGrp="1"/>
          </p:cNvSpPr>
          <p:nvPr/>
        </p:nvSpPr>
        <p:spPr>
          <a:xfrm>
            <a:off x="571500" y="5410200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GPIO15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77A519-0552-4A72-B120-95C5A56A063D}"/>
              </a:ext>
            </a:extLst>
          </p:cNvPr>
          <p:cNvSpPr>
            <a:spLocks noGrp="1"/>
          </p:cNvSpPr>
          <p:nvPr/>
        </p:nvSpPr>
        <p:spPr>
          <a:xfrm>
            <a:off x="2571750" y="5353050"/>
            <a:ext cx="361950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F95965-284F-4C7A-9762-CDDBC409EB88}"/>
              </a:ext>
            </a:extLst>
          </p:cNvPr>
          <p:cNvSpPr>
            <a:spLocks noGrp="1"/>
          </p:cNvSpPr>
          <p:nvPr/>
        </p:nvSpPr>
        <p:spPr>
          <a:xfrm>
            <a:off x="2686050" y="5410200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CKP OUT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3AE53F-BC58-4CB8-8E61-4A5273C97EA1}"/>
              </a:ext>
            </a:extLst>
          </p:cNvPr>
          <p:cNvSpPr>
            <a:spLocks noGrp="1"/>
          </p:cNvSpPr>
          <p:nvPr/>
        </p:nvSpPr>
        <p:spPr>
          <a:xfrm>
            <a:off x="6191250" y="5353050"/>
            <a:ext cx="554355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E9E735B-2910-4C13-96A4-F3FCC4B99E81}"/>
              </a:ext>
            </a:extLst>
          </p:cNvPr>
          <p:cNvSpPr>
            <a:spLocks noGrp="1"/>
          </p:cNvSpPr>
          <p:nvPr/>
        </p:nvSpPr>
        <p:spPr>
          <a:xfrm>
            <a:off x="6305550" y="5410200"/>
            <a:ext cx="531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PIO bit 1 / 3.3V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C0BA80-A25C-4626-B83D-72F10BFE014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634FD12-8670-46C0-A7B5-27DB123B0B49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9794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FC2DDF8-6178-4431-A839-F6081D4B5A3C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16EFF0-A303-44A3-BA23-FB1C4639ECFE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ซอฟต์แวร์ MicroPython ใช้ PIO สร้างสัญญาณและไลบรารีมาตรฐานควบคุม UI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7EB06B-6743-4EDC-8207-B35971759EFB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8DDA98-EB4E-47B9-8784-339634D6126E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2952750" cy="6667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B6E8EB-D049-4390-B03E-7354118D09F3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main.py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10EAE-FF16-429E-94EB-F429930250FF}"/>
              </a:ext>
            </a:extLst>
          </p:cNvPr>
          <p:cNvSpPr>
            <a:spLocks noGrp="1"/>
          </p:cNvSpPr>
          <p:nvPr/>
        </p:nvSpPr>
        <p:spPr>
          <a:xfrm>
            <a:off x="3810000" y="1476375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Boot อัตโนมัติและ Main loop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B8E7EE-E346-4FDA-A2F9-EC4688498E21}"/>
              </a:ext>
            </a:extLst>
          </p:cNvPr>
          <p:cNvSpPr>
            <a:spLocks noGrp="1"/>
          </p:cNvSpPr>
          <p:nvPr/>
        </p:nvSpPr>
        <p:spPr>
          <a:xfrm>
            <a:off x="3524250" y="1476375"/>
            <a:ext cx="38100" cy="666750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081B31-00D4-48AC-899B-E86685111319}"/>
              </a:ext>
            </a:extLst>
          </p:cNvPr>
          <p:cNvSpPr>
            <a:spLocks noGrp="1"/>
          </p:cNvSpPr>
          <p:nvPr/>
        </p:nvSpPr>
        <p:spPr>
          <a:xfrm>
            <a:off x="457200" y="2371725"/>
            <a:ext cx="2952750" cy="666750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365892-B4AE-4C77-A704-0C0CB36FBB63}"/>
              </a:ext>
            </a:extLst>
          </p:cNvPr>
          <p:cNvSpPr>
            <a:spLocks noGrp="1"/>
          </p:cNvSpPr>
          <p:nvPr/>
        </p:nvSpPr>
        <p:spPr>
          <a:xfrm>
            <a:off x="647700" y="2466975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rp2 + PIO ASM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EF2ED7-35CF-444B-AC2D-5DD7F90C7233}"/>
              </a:ext>
            </a:extLst>
          </p:cNvPr>
          <p:cNvSpPr>
            <a:spLocks noGrp="1"/>
          </p:cNvSpPr>
          <p:nvPr/>
        </p:nvSpPr>
        <p:spPr>
          <a:xfrm>
            <a:off x="3810000" y="2371725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StateMachine 0 @ 1 MHz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9876E6-6DBA-4641-81AE-F8144AE2A973}"/>
              </a:ext>
            </a:extLst>
          </p:cNvPr>
          <p:cNvSpPr>
            <a:spLocks noGrp="1"/>
          </p:cNvSpPr>
          <p:nvPr/>
        </p:nvSpPr>
        <p:spPr>
          <a:xfrm>
            <a:off x="3524250" y="2371725"/>
            <a:ext cx="38100" cy="6667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5710FA-9EAB-4818-BF0A-FD5DB61D24F0}"/>
              </a:ext>
            </a:extLst>
          </p:cNvPr>
          <p:cNvSpPr>
            <a:spLocks noGrp="1"/>
          </p:cNvSpPr>
          <p:nvPr/>
        </p:nvSpPr>
        <p:spPr>
          <a:xfrm>
            <a:off x="457200" y="3267075"/>
            <a:ext cx="2952750" cy="6667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8DDFC2-590A-41AC-8971-0DD1965152BA}"/>
              </a:ext>
            </a:extLst>
          </p:cNvPr>
          <p:cNvSpPr>
            <a:spLocks noGrp="1"/>
          </p:cNvSpPr>
          <p:nvPr/>
        </p:nvSpPr>
        <p:spPr>
          <a:xfrm>
            <a:off x="647700" y="3362325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machine.Pin / I2C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AA0871-2939-4BD6-A3EC-B86F594B9371}"/>
              </a:ext>
            </a:extLst>
          </p:cNvPr>
          <p:cNvSpPr>
            <a:spLocks noGrp="1"/>
          </p:cNvSpPr>
          <p:nvPr/>
        </p:nvSpPr>
        <p:spPr>
          <a:xfrm>
            <a:off x="3810000" y="3267075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GPIO, Pull-up, IRQ และ OLED 400 kHz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19D2B7-240B-466A-833E-48637E60D7F3}"/>
              </a:ext>
            </a:extLst>
          </p:cNvPr>
          <p:cNvSpPr>
            <a:spLocks noGrp="1"/>
          </p:cNvSpPr>
          <p:nvPr/>
        </p:nvSpPr>
        <p:spPr>
          <a:xfrm>
            <a:off x="3524250" y="3267075"/>
            <a:ext cx="38100" cy="666750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9D4480-B3CC-440D-A35A-476DDF033395}"/>
              </a:ext>
            </a:extLst>
          </p:cNvPr>
          <p:cNvSpPr>
            <a:spLocks noGrp="1"/>
          </p:cNvSpPr>
          <p:nvPr/>
        </p:nvSpPr>
        <p:spPr>
          <a:xfrm>
            <a:off x="457200" y="4162425"/>
            <a:ext cx="2952750" cy="6667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12EB23-7AFD-45D9-BA28-B3F8C4A0A200}"/>
              </a:ext>
            </a:extLst>
          </p:cNvPr>
          <p:cNvSpPr>
            <a:spLocks noGrp="1"/>
          </p:cNvSpPr>
          <p:nvPr/>
        </p:nvSpPr>
        <p:spPr>
          <a:xfrm>
            <a:off x="647700" y="4257675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time.ticks_ms / diff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5AD2AA-65AC-436F-813A-DFC5E2E38159}"/>
              </a:ext>
            </a:extLst>
          </p:cNvPr>
          <p:cNvSpPr>
            <a:spLocks noGrp="1"/>
          </p:cNvSpPr>
          <p:nvPr/>
        </p:nvSpPr>
        <p:spPr>
          <a:xfrm>
            <a:off x="3810000" y="4162425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Debounce และ Display refresh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1E8A55-76DF-4CEA-8F86-348B15B75DDF}"/>
              </a:ext>
            </a:extLst>
          </p:cNvPr>
          <p:cNvSpPr>
            <a:spLocks noGrp="1"/>
          </p:cNvSpPr>
          <p:nvPr/>
        </p:nvSpPr>
        <p:spPr>
          <a:xfrm>
            <a:off x="3524250" y="4162425"/>
            <a:ext cx="38100" cy="666750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1730E8-9CE7-4CC3-88E9-E774C143F228}"/>
              </a:ext>
            </a:extLst>
          </p:cNvPr>
          <p:cNvSpPr>
            <a:spLocks noGrp="1"/>
          </p:cNvSpPr>
          <p:nvPr/>
        </p:nvSpPr>
        <p:spPr>
          <a:xfrm>
            <a:off x="457200" y="5057775"/>
            <a:ext cx="2952750" cy="6667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DD6017-41BD-49CB-A0C5-86D5C3C2D760}"/>
              </a:ext>
            </a:extLst>
          </p:cNvPr>
          <p:cNvSpPr>
            <a:spLocks noGrp="1"/>
          </p:cNvSpPr>
          <p:nvPr/>
        </p:nvSpPr>
        <p:spPr>
          <a:xfrm>
            <a:off x="647700" y="5153025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sh1106.py หรือ ssd1306.py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D7A5CC-920F-4A21-BAF4-9625C9C5781F}"/>
              </a:ext>
            </a:extLst>
          </p:cNvPr>
          <p:cNvSpPr>
            <a:spLocks noGrp="1"/>
          </p:cNvSpPr>
          <p:nvPr/>
        </p:nvSpPr>
        <p:spPr>
          <a:xfrm>
            <a:off x="3810000" y="5057775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OLED 128×64 @ 0x3C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D75904-FB50-48B7-BFCC-7D3A32053AF1}"/>
              </a:ext>
            </a:extLst>
          </p:cNvPr>
          <p:cNvSpPr>
            <a:spLocks noGrp="1"/>
          </p:cNvSpPr>
          <p:nvPr/>
        </p:nvSpPr>
        <p:spPr>
          <a:xfrm>
            <a:off x="3524250" y="5057775"/>
            <a:ext cx="38100" cy="666750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C4D4B7-A7A7-4A83-9AC8-BC55FE917038}"/>
              </a:ext>
            </a:extLst>
          </p:cNvPr>
          <p:cNvSpPr>
            <a:spLocks noGrp="1"/>
          </p:cNvSpPr>
          <p:nvPr/>
        </p:nvSpPr>
        <p:spPr>
          <a:xfrm>
            <a:off x="457200" y="6000750"/>
            <a:ext cx="11277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464F4"/>
                </a:solidFill>
              </a:defRPr>
            </a:pPr>
            <a:r>
              <a:rPr sz="1500" b="1">
                <a:solidFill>
                  <a:srgbClr val="1464F4"/>
                </a:solidFill>
              </a:rPr>
              <a:t>ไฟล์ขั้นต่ำบนบอร์ด: main.py + Driver ที่ตรงกับ OLED_DRIVER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5C35A3-C0BD-4AF2-8FE4-82BFD4BC49EC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76AD34-B3E9-41EE-9014-6AF02281CFC4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9826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9D49DBC-7932-45C2-8387-4C9573CA10B7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FF84D-BA33-453F-AD47-973F1A417BE6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PIO Word 32 บิตกำหนดสถานะสองช่วงและเวลาหน่วงในแต่ละ Tooth Slot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121898-E3F4-43DB-AF36-D8CF358F6887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8349D-D983-43EF-A687-353642898B1F}"/>
              </a:ext>
            </a:extLst>
          </p:cNvPr>
          <p:cNvSpPr>
            <a:spLocks noGrp="1"/>
          </p:cNvSpPr>
          <p:nvPr/>
        </p:nvSpPr>
        <p:spPr>
          <a:xfrm>
            <a:off x="457200" y="1762125"/>
            <a:ext cx="3048000" cy="1381125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45B834-7B34-47E6-B28A-6F6ADD90A099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bit 0–1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8F32A7-0F9E-4798-BDB0-C3C81EEA2C03}"/>
              </a:ext>
            </a:extLst>
          </p:cNvPr>
          <p:cNvSpPr>
            <a:spLocks noGrp="1"/>
          </p:cNvSpPr>
          <p:nvPr/>
        </p:nvSpPr>
        <p:spPr>
          <a:xfrm>
            <a:off x="647700" y="23050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first_state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4A597E-8961-4F4B-B888-C5CC8A5CE212}"/>
              </a:ext>
            </a:extLst>
          </p:cNvPr>
          <p:cNvSpPr>
            <a:spLocks noGrp="1"/>
          </p:cNvSpPr>
          <p:nvPr/>
        </p:nvSpPr>
        <p:spPr>
          <a:xfrm>
            <a:off x="647700" y="27336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CMP/CKP ครึ่งแรก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6E9B5E-DD7A-4224-A02E-B5BFEEC5DF92}"/>
              </a:ext>
            </a:extLst>
          </p:cNvPr>
          <p:cNvSpPr>
            <a:spLocks noGrp="1"/>
          </p:cNvSpPr>
          <p:nvPr/>
        </p:nvSpPr>
        <p:spPr>
          <a:xfrm>
            <a:off x="3714750" y="1762125"/>
            <a:ext cx="3048000" cy="1381125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91717F-CF01-4B31-93CC-B776FA5457ED}"/>
              </a:ext>
            </a:extLst>
          </p:cNvPr>
          <p:cNvSpPr>
            <a:spLocks noGrp="1"/>
          </p:cNvSpPr>
          <p:nvPr/>
        </p:nvSpPr>
        <p:spPr>
          <a:xfrm>
            <a:off x="3905250" y="19240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bit 2–3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CC0C8E-3A17-4B96-996E-AA9227D88972}"/>
              </a:ext>
            </a:extLst>
          </p:cNvPr>
          <p:cNvSpPr>
            <a:spLocks noGrp="1"/>
          </p:cNvSpPr>
          <p:nvPr/>
        </p:nvSpPr>
        <p:spPr>
          <a:xfrm>
            <a:off x="3905250" y="23050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second_state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A0732-9D33-4B8C-AD19-5A784D0793F1}"/>
              </a:ext>
            </a:extLst>
          </p:cNvPr>
          <p:cNvSpPr>
            <a:spLocks noGrp="1"/>
          </p:cNvSpPr>
          <p:nvPr/>
        </p:nvSpPr>
        <p:spPr>
          <a:xfrm>
            <a:off x="3905250" y="27336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CMP/CKP ครึ่งหลัง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5D29DA-0393-4B6C-BF3A-3C3235589640}"/>
              </a:ext>
            </a:extLst>
          </p:cNvPr>
          <p:cNvSpPr>
            <a:spLocks noGrp="1"/>
          </p:cNvSpPr>
          <p:nvPr/>
        </p:nvSpPr>
        <p:spPr>
          <a:xfrm>
            <a:off x="6972300" y="1762125"/>
            <a:ext cx="4762500" cy="1381125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D30ECC-6812-476A-8AE9-093999C604D1}"/>
              </a:ext>
            </a:extLst>
          </p:cNvPr>
          <p:cNvSpPr>
            <a:spLocks noGrp="1"/>
          </p:cNvSpPr>
          <p:nvPr/>
        </p:nvSpPr>
        <p:spPr>
          <a:xfrm>
            <a:off x="7162800" y="19240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bit 4–31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FAB60-6EB1-423A-AF88-F04D79252571}"/>
              </a:ext>
            </a:extLst>
          </p:cNvPr>
          <p:cNvSpPr>
            <a:spLocks noGrp="1"/>
          </p:cNvSpPr>
          <p:nvPr/>
        </p:nvSpPr>
        <p:spPr>
          <a:xfrm>
            <a:off x="7162800" y="230505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delay_count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273ED5-9877-472E-8675-5C3523EB0C11}"/>
              </a:ext>
            </a:extLst>
          </p:cNvPr>
          <p:cNvSpPr>
            <a:spLocks noGrp="1"/>
          </p:cNvSpPr>
          <p:nvPr/>
        </p:nvSpPr>
        <p:spPr>
          <a:xfrm>
            <a:off x="7162800" y="2733675"/>
            <a:ext cx="438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จำนวนรอบหน่วง 28 บิต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B84644-D014-4223-B6A1-83722E6D705A}"/>
              </a:ext>
            </a:extLst>
          </p:cNvPr>
          <p:cNvSpPr>
            <a:spLocks noGrp="1"/>
          </p:cNvSpPr>
          <p:nvPr/>
        </p:nvSpPr>
        <p:spPr>
          <a:xfrm>
            <a:off x="457200" y="3714750"/>
            <a:ext cx="1127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464F4"/>
                </a:solidFill>
              </a:defRPr>
            </a:pPr>
            <a:r>
              <a:rPr sz="2025" b="1">
                <a:solidFill>
                  <a:srgbClr val="1464F4"/>
                </a:solidFill>
              </a:rPr>
              <a:t>packed_word = first_state | (second_state &lt;&lt; 2) | (delay_count &lt;&lt; 4)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7C98BC-5A12-4641-BC37-7F8568BE5219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85725" cy="8572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98CB35-B90A-41FF-84E9-BF6DC1CDBC3D}"/>
              </a:ext>
            </a:extLst>
          </p:cNvPr>
          <p:cNvSpPr>
            <a:spLocks noGrp="1"/>
          </p:cNvSpPr>
          <p:nvPr/>
        </p:nvSpPr>
        <p:spPr>
          <a:xfrm>
            <a:off x="1190625" y="4572000"/>
            <a:ext cx="10048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out_base = GPIO14 ควบคุม GPIO14–15 พร้อมกัน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0C407A-B1FA-4B5C-B349-70F5341CD3B7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85725" cy="8572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73E9E5-8BA2-4BB9-9DF3-221E05B157A9}"/>
              </a:ext>
            </a:extLst>
          </p:cNvPr>
          <p:cNvSpPr>
            <a:spLocks noGrp="1"/>
          </p:cNvSpPr>
          <p:nvPr/>
        </p:nvSpPr>
        <p:spPr>
          <a:xfrm>
            <a:off x="1190625" y="5048250"/>
            <a:ext cx="10048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bit 0 = CMP และ bit 1 = CKP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52A326-56B1-4BFA-895A-E023EED0F1D9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85725" cy="8572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8BBBF0-7DF6-4D31-91A9-CF58E12E2F35}"/>
              </a:ext>
            </a:extLst>
          </p:cNvPr>
          <p:cNvSpPr>
            <a:spLocks noGrp="1"/>
          </p:cNvSpPr>
          <p:nvPr/>
        </p:nvSpPr>
        <p:spPr>
          <a:xfrm>
            <a:off x="1190625" y="5524500"/>
            <a:ext cx="10048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FIFO ช่วยลด Jitter จาก OLED ปุ่ม และ Encoder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9D92BF-B506-4A4A-94DF-FEDBC9773124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93C847-6F2E-4D7C-97E3-59D89FA800ED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6288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53CA4E71-D5B9-450A-8877-5EA6CF5C2BBE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82F6C-3F28-43AA-B149-893F24985469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ความถี่ของ Slot เพิ่มตาม RPM และจำนวน Slot ต่อรอบ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0CF0CF-7E84-4D15-9BC0-4FCCDA3A44AA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FB6CE-4F43-4F1F-A02B-326F63F2A851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11277600" cy="85725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54522-44AC-4112-BA1A-2D70D01E9129}"/>
              </a:ext>
            </a:extLst>
          </p:cNvPr>
          <p:cNvSpPr>
            <a:spLocks noGrp="1"/>
          </p:cNvSpPr>
          <p:nvPr/>
        </p:nvSpPr>
        <p:spPr>
          <a:xfrm>
            <a:off x="714375" y="1733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slot_time_us = 60,000,000 ÷ (RPM × Slots per revolution)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B7962E-0D89-4983-BDB2-A74CE579E957}"/>
              </a:ext>
            </a:extLst>
          </p:cNvPr>
          <p:cNvSpPr>
            <a:spLocks noGrp="1"/>
          </p:cNvSpPr>
          <p:nvPr/>
        </p:nvSpPr>
        <p:spPr>
          <a:xfrm>
            <a:off x="457200" y="2857500"/>
            <a:ext cx="2857500" cy="476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E08945-1500-4E68-BFF2-B910FCBDADDE}"/>
              </a:ext>
            </a:extLst>
          </p:cNvPr>
          <p:cNvSpPr>
            <a:spLocks noGrp="1"/>
          </p:cNvSpPr>
          <p:nvPr/>
        </p:nvSpPr>
        <p:spPr>
          <a:xfrm>
            <a:off x="571500" y="2924175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Pattern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BDF898-F505-47F9-BFC3-7CED85F602D9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2381250" cy="476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ABF850-3E3A-4B47-8B66-83157EB8AE35}"/>
              </a:ext>
            </a:extLst>
          </p:cNvPr>
          <p:cNvSpPr>
            <a:spLocks noGrp="1"/>
          </p:cNvSpPr>
          <p:nvPr/>
        </p:nvSpPr>
        <p:spPr>
          <a:xfrm>
            <a:off x="3448050" y="29241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Slots/รอบ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A2A096-E3C5-4278-AEEC-2C36660EFDB6}"/>
              </a:ext>
            </a:extLst>
          </p:cNvPr>
          <p:cNvSpPr>
            <a:spLocks noGrp="1"/>
          </p:cNvSpPr>
          <p:nvPr/>
        </p:nvSpPr>
        <p:spPr>
          <a:xfrm>
            <a:off x="5715000" y="2857500"/>
            <a:ext cx="2857500" cy="476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783B33-A896-4276-87ED-48CCDFC5F3DC}"/>
              </a:ext>
            </a:extLst>
          </p:cNvPr>
          <p:cNvSpPr>
            <a:spLocks noGrp="1"/>
          </p:cNvSpPr>
          <p:nvPr/>
        </p:nvSpPr>
        <p:spPr>
          <a:xfrm>
            <a:off x="5829300" y="2924175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ที่ 1,000 RPM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5E58A-E8E4-4A18-9196-5B9E9D58514E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3162300" cy="476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CABE09-0598-4704-865B-D1D6A77DEAB7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93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ที่ 15,000 RPM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B055A2-95C4-4EC1-8015-97DB402F7E74}"/>
              </a:ext>
            </a:extLst>
          </p:cNvPr>
          <p:cNvSpPr>
            <a:spLocks noGrp="1"/>
          </p:cNvSpPr>
          <p:nvPr/>
        </p:nvSpPr>
        <p:spPr>
          <a:xfrm>
            <a:off x="457200" y="33337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677D7F-DB28-458D-8865-11D0B5F383BF}"/>
              </a:ext>
            </a:extLst>
          </p:cNvPr>
          <p:cNvSpPr>
            <a:spLocks noGrp="1"/>
          </p:cNvSpPr>
          <p:nvPr/>
        </p:nvSpPr>
        <p:spPr>
          <a:xfrm>
            <a:off x="571500" y="3400425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60-2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99B568-338B-49A4-805B-DC8BF6EBA3E9}"/>
              </a:ext>
            </a:extLst>
          </p:cNvPr>
          <p:cNvSpPr>
            <a:spLocks noGrp="1"/>
          </p:cNvSpPr>
          <p:nvPr/>
        </p:nvSpPr>
        <p:spPr>
          <a:xfrm>
            <a:off x="3333750" y="33337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2CFCB6-EF0D-4FBD-847C-EA8E126C279F}"/>
              </a:ext>
            </a:extLst>
          </p:cNvPr>
          <p:cNvSpPr>
            <a:spLocks noGrp="1"/>
          </p:cNvSpPr>
          <p:nvPr/>
        </p:nvSpPr>
        <p:spPr>
          <a:xfrm>
            <a:off x="3448050" y="34004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60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4DD04D-A33D-4CA6-8A7C-824CA7ED7F13}"/>
              </a:ext>
            </a:extLst>
          </p:cNvPr>
          <p:cNvSpPr>
            <a:spLocks noGrp="1"/>
          </p:cNvSpPr>
          <p:nvPr/>
        </p:nvSpPr>
        <p:spPr>
          <a:xfrm>
            <a:off x="5715000" y="33337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10B49-B1EC-4095-AFCC-3620B316244D}"/>
              </a:ext>
            </a:extLst>
          </p:cNvPr>
          <p:cNvSpPr>
            <a:spLocks noGrp="1"/>
          </p:cNvSpPr>
          <p:nvPr/>
        </p:nvSpPr>
        <p:spPr>
          <a:xfrm>
            <a:off x="5829300" y="3400425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1,000 Hz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F67845-7F9B-4D0C-9EB7-2B37097C55EC}"/>
              </a:ext>
            </a:extLst>
          </p:cNvPr>
          <p:cNvSpPr>
            <a:spLocks noGrp="1"/>
          </p:cNvSpPr>
          <p:nvPr/>
        </p:nvSpPr>
        <p:spPr>
          <a:xfrm>
            <a:off x="8572500" y="3333750"/>
            <a:ext cx="3162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314E04-2DE6-4DCE-AA5B-373BE1A31460}"/>
              </a:ext>
            </a:extLst>
          </p:cNvPr>
          <p:cNvSpPr>
            <a:spLocks noGrp="1"/>
          </p:cNvSpPr>
          <p:nvPr/>
        </p:nvSpPr>
        <p:spPr>
          <a:xfrm>
            <a:off x="8686800" y="3400425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15,000 Hz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6E33B4-55DE-40B2-B836-638B6AD69C71}"/>
              </a:ext>
            </a:extLst>
          </p:cNvPr>
          <p:cNvSpPr>
            <a:spLocks noGrp="1"/>
          </p:cNvSpPr>
          <p:nvPr/>
        </p:nvSpPr>
        <p:spPr>
          <a:xfrm>
            <a:off x="457200" y="3886200"/>
            <a:ext cx="285750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978316-852E-4831-AA03-AA0709AA6649}"/>
              </a:ext>
            </a:extLst>
          </p:cNvPr>
          <p:cNvSpPr>
            <a:spLocks noGrp="1"/>
          </p:cNvSpPr>
          <p:nvPr/>
        </p:nvSpPr>
        <p:spPr>
          <a:xfrm>
            <a:off x="571500" y="3952875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36-2 / 36-1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903186-B86F-4102-99C8-532E79186C0E}"/>
              </a:ext>
            </a:extLst>
          </p:cNvPr>
          <p:cNvSpPr>
            <a:spLocks noGrp="1"/>
          </p:cNvSpPr>
          <p:nvPr/>
        </p:nvSpPr>
        <p:spPr>
          <a:xfrm>
            <a:off x="3333750" y="3886200"/>
            <a:ext cx="238125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DEEF73-206B-4CF0-985C-A20EA7513374}"/>
              </a:ext>
            </a:extLst>
          </p:cNvPr>
          <p:cNvSpPr>
            <a:spLocks noGrp="1"/>
          </p:cNvSpPr>
          <p:nvPr/>
        </p:nvSpPr>
        <p:spPr>
          <a:xfrm>
            <a:off x="3448050" y="395287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36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221119-4090-4AFD-A841-92BBB59F7124}"/>
              </a:ext>
            </a:extLst>
          </p:cNvPr>
          <p:cNvSpPr>
            <a:spLocks noGrp="1"/>
          </p:cNvSpPr>
          <p:nvPr/>
        </p:nvSpPr>
        <p:spPr>
          <a:xfrm>
            <a:off x="5715000" y="3886200"/>
            <a:ext cx="285750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0DEDD9-6911-4F20-8077-2BF8B37C2E80}"/>
              </a:ext>
            </a:extLst>
          </p:cNvPr>
          <p:cNvSpPr>
            <a:spLocks noGrp="1"/>
          </p:cNvSpPr>
          <p:nvPr/>
        </p:nvSpPr>
        <p:spPr>
          <a:xfrm>
            <a:off x="5829300" y="3952875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600 Hz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E5ECB1-23CC-41DB-93B6-F81EB5DACFDE}"/>
              </a:ext>
            </a:extLst>
          </p:cNvPr>
          <p:cNvSpPr>
            <a:spLocks noGrp="1"/>
          </p:cNvSpPr>
          <p:nvPr/>
        </p:nvSpPr>
        <p:spPr>
          <a:xfrm>
            <a:off x="8572500" y="3886200"/>
            <a:ext cx="316230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C638B3-82A8-47C6-8E23-1E0E70FF31D6}"/>
              </a:ext>
            </a:extLst>
          </p:cNvPr>
          <p:cNvSpPr>
            <a:spLocks noGrp="1"/>
          </p:cNvSpPr>
          <p:nvPr/>
        </p:nvSpPr>
        <p:spPr>
          <a:xfrm>
            <a:off x="8686800" y="3952875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9,000 Hz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DAAAE4-B9A0-4EF0-94EE-35FF50256AA3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45C9A9-3BF8-4B12-AAB9-DF9E124AC5CA}"/>
              </a:ext>
            </a:extLst>
          </p:cNvPr>
          <p:cNvSpPr>
            <a:spLocks noGrp="1"/>
          </p:cNvSpPr>
          <p:nvPr/>
        </p:nvSpPr>
        <p:spPr>
          <a:xfrm>
            <a:off x="571500" y="4505325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24-2 / 24-1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A7B1D6-6851-4342-B067-9B4788308C8E}"/>
              </a:ext>
            </a:extLst>
          </p:cNvPr>
          <p:cNvSpPr>
            <a:spLocks noGrp="1"/>
          </p:cNvSpPr>
          <p:nvPr/>
        </p:nvSpPr>
        <p:spPr>
          <a:xfrm>
            <a:off x="3333750" y="44386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D902DC-53C2-4016-814A-5CE464878588}"/>
              </a:ext>
            </a:extLst>
          </p:cNvPr>
          <p:cNvSpPr>
            <a:spLocks noGrp="1"/>
          </p:cNvSpPr>
          <p:nvPr/>
        </p:nvSpPr>
        <p:spPr>
          <a:xfrm>
            <a:off x="3448050" y="45053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24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ED3853-0601-4FB3-B5EB-710FF01B3E22}"/>
              </a:ext>
            </a:extLst>
          </p:cNvPr>
          <p:cNvSpPr>
            <a:spLocks noGrp="1"/>
          </p:cNvSpPr>
          <p:nvPr/>
        </p:nvSpPr>
        <p:spPr>
          <a:xfrm>
            <a:off x="5715000" y="44386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EAAC33-8D82-477E-8B74-706A9F0FF280}"/>
              </a:ext>
            </a:extLst>
          </p:cNvPr>
          <p:cNvSpPr>
            <a:spLocks noGrp="1"/>
          </p:cNvSpPr>
          <p:nvPr/>
        </p:nvSpPr>
        <p:spPr>
          <a:xfrm>
            <a:off x="5829300" y="4505325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400 Hz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AE76F4-99CA-41A1-B748-35AE69D55FCE}"/>
              </a:ext>
            </a:extLst>
          </p:cNvPr>
          <p:cNvSpPr>
            <a:spLocks noGrp="1"/>
          </p:cNvSpPr>
          <p:nvPr/>
        </p:nvSpPr>
        <p:spPr>
          <a:xfrm>
            <a:off x="8572500" y="4438650"/>
            <a:ext cx="3162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E5DDDE-E486-493C-9039-8E2271AE1A1B}"/>
              </a:ext>
            </a:extLst>
          </p:cNvPr>
          <p:cNvSpPr>
            <a:spLocks noGrp="1"/>
          </p:cNvSpPr>
          <p:nvPr/>
        </p:nvSpPr>
        <p:spPr>
          <a:xfrm>
            <a:off x="8686800" y="4505325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6,000 Hz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9A30A4-C410-406C-98C9-82EB82F7BAB7}"/>
              </a:ext>
            </a:extLst>
          </p:cNvPr>
          <p:cNvSpPr>
            <a:spLocks noGrp="1"/>
          </p:cNvSpPr>
          <p:nvPr/>
        </p:nvSpPr>
        <p:spPr>
          <a:xfrm>
            <a:off x="457200" y="4991100"/>
            <a:ext cx="285750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5050B0-C3D9-4573-8EAF-E65333377491}"/>
              </a:ext>
            </a:extLst>
          </p:cNvPr>
          <p:cNvSpPr>
            <a:spLocks noGrp="1"/>
          </p:cNvSpPr>
          <p:nvPr/>
        </p:nvSpPr>
        <p:spPr>
          <a:xfrm>
            <a:off x="571500" y="5057775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12+1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887698-D30A-451D-97D7-4121AAF1EE1C}"/>
              </a:ext>
            </a:extLst>
          </p:cNvPr>
          <p:cNvSpPr>
            <a:spLocks noGrp="1"/>
          </p:cNvSpPr>
          <p:nvPr/>
        </p:nvSpPr>
        <p:spPr>
          <a:xfrm>
            <a:off x="3333750" y="4991100"/>
            <a:ext cx="238125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5A8864-BD9E-4931-9277-467C0B350199}"/>
              </a:ext>
            </a:extLst>
          </p:cNvPr>
          <p:cNvSpPr>
            <a:spLocks noGrp="1"/>
          </p:cNvSpPr>
          <p:nvPr/>
        </p:nvSpPr>
        <p:spPr>
          <a:xfrm>
            <a:off x="3448050" y="505777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12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30DD05-B45B-4A1F-B89D-FE6E0925E2A2}"/>
              </a:ext>
            </a:extLst>
          </p:cNvPr>
          <p:cNvSpPr>
            <a:spLocks noGrp="1"/>
          </p:cNvSpPr>
          <p:nvPr/>
        </p:nvSpPr>
        <p:spPr>
          <a:xfrm>
            <a:off x="5715000" y="4991100"/>
            <a:ext cx="285750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ECB0E9-F81C-4B29-95B9-966FD41361D6}"/>
              </a:ext>
            </a:extLst>
          </p:cNvPr>
          <p:cNvSpPr>
            <a:spLocks noGrp="1"/>
          </p:cNvSpPr>
          <p:nvPr/>
        </p:nvSpPr>
        <p:spPr>
          <a:xfrm>
            <a:off x="5829300" y="5057775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200 Hz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A364A5D-58AF-4EF8-9A27-CF01C6F9FE46}"/>
              </a:ext>
            </a:extLst>
          </p:cNvPr>
          <p:cNvSpPr>
            <a:spLocks noGrp="1"/>
          </p:cNvSpPr>
          <p:nvPr/>
        </p:nvSpPr>
        <p:spPr>
          <a:xfrm>
            <a:off x="8572500" y="4991100"/>
            <a:ext cx="316230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DCD99E-0602-49F0-878C-7F3B1925CEF8}"/>
              </a:ext>
            </a:extLst>
          </p:cNvPr>
          <p:cNvSpPr>
            <a:spLocks noGrp="1"/>
          </p:cNvSpPr>
          <p:nvPr/>
        </p:nvSpPr>
        <p:spPr>
          <a:xfrm>
            <a:off x="8686800" y="5057775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3,000 Hz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99842E-C5FB-4D18-8A2A-39EBEE7DCD95}"/>
              </a:ext>
            </a:extLst>
          </p:cNvPr>
          <p:cNvSpPr>
            <a:spLocks noGrp="1"/>
          </p:cNvSpPr>
          <p:nvPr/>
        </p:nvSpPr>
        <p:spPr>
          <a:xfrm>
            <a:off x="457200" y="5762625"/>
            <a:ext cx="11277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2A93B"/>
                </a:solidFill>
              </a:defRPr>
            </a:pPr>
            <a:r>
              <a:rPr sz="1425" b="1">
                <a:solidFill>
                  <a:srgbClr val="F2A93B"/>
                </a:solidFill>
              </a:rPr>
              <a:t>Missing-tooth และ 12+1 ไม่ใช่ Square Wave ต่อเนื่อง — ใช้ Oscilloscope หรือ Logic Analyzer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58289B-B5AF-42BF-A4AF-5CDCF0E2E7EE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1994C7-B55A-471A-9E4F-07E812A4B5AE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686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C2A8913-EDBA-4200-82F8-E1E1E974FA2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169DB-6653-400D-9612-6BC9A16AA692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ฐานข้อมูลรองรับ 6 Pattern และรอบวัฏจักร CKP 720 องศา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7CEE7-465D-4E05-A768-854227DE5719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63A9E7-3493-484A-8766-2004791C7448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62000" cy="590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AB851-2E6E-40C4-919B-1A1992F73ED6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464F4"/>
                </a:solidFill>
              </a:defRPr>
            </a:pPr>
            <a:r>
              <a:rPr sz="1575" b="1">
                <a:solidFill>
                  <a:srgbClr val="1464F4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D2B668-72C2-4B16-9EBA-7AD91E0E417D}"/>
              </a:ext>
            </a:extLst>
          </p:cNvPr>
          <p:cNvSpPr>
            <a:spLocks noGrp="1"/>
          </p:cNvSpPr>
          <p:nvPr/>
        </p:nvSpPr>
        <p:spPr>
          <a:xfrm>
            <a:off x="1476375" y="15240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60-2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947F8-0870-4D89-856A-CAD67F4FA615}"/>
              </a:ext>
            </a:extLst>
          </p:cNvPr>
          <p:cNvSpPr>
            <a:spLocks noGrp="1"/>
          </p:cNvSpPr>
          <p:nvPr/>
        </p:nvSpPr>
        <p:spPr>
          <a:xfrm>
            <a:off x="3333750" y="1524000"/>
            <a:ext cx="371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Missing 58,59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073F8-F5B4-4E6A-BA8E-235937A310C8}"/>
              </a:ext>
            </a:extLst>
          </p:cNvPr>
          <p:cNvSpPr>
            <a:spLocks noGrp="1"/>
          </p:cNvSpPr>
          <p:nvPr/>
        </p:nvSpPr>
        <p:spPr>
          <a:xfrm>
            <a:off x="7429500" y="1524000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CMP 10–&lt;20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C8BF36-A93F-42BE-92BA-817A5C8C2AAA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762000" cy="590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9760D-2F66-4FD4-9C11-75E80D34F024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464F4"/>
                </a:solidFill>
              </a:defRPr>
            </a:pPr>
            <a:r>
              <a:rPr sz="1575" b="1">
                <a:solidFill>
                  <a:srgbClr val="1464F4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EC0432-4385-4340-B882-B4FFD68F97DC}"/>
              </a:ext>
            </a:extLst>
          </p:cNvPr>
          <p:cNvSpPr>
            <a:spLocks noGrp="1"/>
          </p:cNvSpPr>
          <p:nvPr/>
        </p:nvSpPr>
        <p:spPr>
          <a:xfrm>
            <a:off x="1476375" y="22098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36-2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63604F-384B-4CAB-AFEE-9802C5C4561A}"/>
              </a:ext>
            </a:extLst>
          </p:cNvPr>
          <p:cNvSpPr>
            <a:spLocks noGrp="1"/>
          </p:cNvSpPr>
          <p:nvPr/>
        </p:nvSpPr>
        <p:spPr>
          <a:xfrm>
            <a:off x="3333750" y="2209800"/>
            <a:ext cx="371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Missing 34,35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E8D407-4BA1-4D50-B45E-D26760420A9D}"/>
              </a:ext>
            </a:extLst>
          </p:cNvPr>
          <p:cNvSpPr>
            <a:spLocks noGrp="1"/>
          </p:cNvSpPr>
          <p:nvPr/>
        </p:nvSpPr>
        <p:spPr>
          <a:xfrm>
            <a:off x="7429500" y="2209800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CMP 6–&lt;12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B49E05-C5BD-4A26-BF62-9143D05E61FB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762000" cy="590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9B5E86-F856-4B51-8719-6E65CB028C7C}"/>
              </a:ext>
            </a:extLst>
          </p:cNvPr>
          <p:cNvSpPr>
            <a:spLocks noGrp="1"/>
          </p:cNvSpPr>
          <p:nvPr/>
        </p:nvSpPr>
        <p:spPr>
          <a:xfrm>
            <a:off x="457200" y="29908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464F4"/>
                </a:solidFill>
              </a:defRPr>
            </a:pPr>
            <a:r>
              <a:rPr sz="1575" b="1">
                <a:solidFill>
                  <a:srgbClr val="1464F4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D9901A-2115-449E-92B8-4DCF75626888}"/>
              </a:ext>
            </a:extLst>
          </p:cNvPr>
          <p:cNvSpPr>
            <a:spLocks noGrp="1"/>
          </p:cNvSpPr>
          <p:nvPr/>
        </p:nvSpPr>
        <p:spPr>
          <a:xfrm>
            <a:off x="1476375" y="28956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36-1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82C0C5-E2B4-4A68-B32F-0288F977FABB}"/>
              </a:ext>
            </a:extLst>
          </p:cNvPr>
          <p:cNvSpPr>
            <a:spLocks noGrp="1"/>
          </p:cNvSpPr>
          <p:nvPr/>
        </p:nvSpPr>
        <p:spPr>
          <a:xfrm>
            <a:off x="3333750" y="2895600"/>
            <a:ext cx="371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Missing 35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7C4911-24D9-44A2-80A6-E48EF572A778}"/>
              </a:ext>
            </a:extLst>
          </p:cNvPr>
          <p:cNvSpPr>
            <a:spLocks noGrp="1"/>
          </p:cNvSpPr>
          <p:nvPr/>
        </p:nvSpPr>
        <p:spPr>
          <a:xfrm>
            <a:off x="7429500" y="2895600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CMP 8–&lt;14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2CD3D5-7F19-41A8-A311-42600A456D6C}"/>
              </a:ext>
            </a:extLst>
          </p:cNvPr>
          <p:cNvSpPr>
            <a:spLocks noGrp="1"/>
          </p:cNvSpPr>
          <p:nvPr/>
        </p:nvSpPr>
        <p:spPr>
          <a:xfrm>
            <a:off x="457200" y="3581400"/>
            <a:ext cx="762000" cy="590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D7A3CA-A1AB-419A-A010-281FBEE1CEEC}"/>
              </a:ext>
            </a:extLst>
          </p:cNvPr>
          <p:cNvSpPr>
            <a:spLocks noGrp="1"/>
          </p:cNvSpPr>
          <p:nvPr/>
        </p:nvSpPr>
        <p:spPr>
          <a:xfrm>
            <a:off x="457200" y="36766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464F4"/>
                </a:solidFill>
              </a:defRPr>
            </a:pPr>
            <a:r>
              <a:rPr sz="1575" b="1">
                <a:solidFill>
                  <a:srgbClr val="1464F4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CBC489-964A-4C4A-AD88-FFB9EAB5ADDC}"/>
              </a:ext>
            </a:extLst>
          </p:cNvPr>
          <p:cNvSpPr>
            <a:spLocks noGrp="1"/>
          </p:cNvSpPr>
          <p:nvPr/>
        </p:nvSpPr>
        <p:spPr>
          <a:xfrm>
            <a:off x="1476375" y="35814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24-2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AF625C-E78C-44E1-A673-C73843149577}"/>
              </a:ext>
            </a:extLst>
          </p:cNvPr>
          <p:cNvSpPr>
            <a:spLocks noGrp="1"/>
          </p:cNvSpPr>
          <p:nvPr/>
        </p:nvSpPr>
        <p:spPr>
          <a:xfrm>
            <a:off x="3333750" y="3581400"/>
            <a:ext cx="371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Missing 22,23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67A828-0F9F-44DC-A6CF-28CA8CE1B898}"/>
              </a:ext>
            </a:extLst>
          </p:cNvPr>
          <p:cNvSpPr>
            <a:spLocks noGrp="1"/>
          </p:cNvSpPr>
          <p:nvPr/>
        </p:nvSpPr>
        <p:spPr>
          <a:xfrm>
            <a:off x="7429500" y="3581400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CMP 4–&lt;8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5755E5-4D9D-445F-82F1-6BB3BA97537F}"/>
              </a:ext>
            </a:extLst>
          </p:cNvPr>
          <p:cNvSpPr>
            <a:spLocks noGrp="1"/>
          </p:cNvSpPr>
          <p:nvPr/>
        </p:nvSpPr>
        <p:spPr>
          <a:xfrm>
            <a:off x="457200" y="4267200"/>
            <a:ext cx="762000" cy="590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552791-5E2F-4F90-991C-4CFF780961C6}"/>
              </a:ext>
            </a:extLst>
          </p:cNvPr>
          <p:cNvSpPr>
            <a:spLocks noGrp="1"/>
          </p:cNvSpPr>
          <p:nvPr/>
        </p:nvSpPr>
        <p:spPr>
          <a:xfrm>
            <a:off x="457200" y="43624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464F4"/>
                </a:solidFill>
              </a:defRPr>
            </a:pPr>
            <a:r>
              <a:rPr sz="1575" b="1">
                <a:solidFill>
                  <a:srgbClr val="1464F4"/>
                </a:solidFill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CBA66B-7CB8-4C7F-8B89-E00791AFA0CA}"/>
              </a:ext>
            </a:extLst>
          </p:cNvPr>
          <p:cNvSpPr>
            <a:spLocks noGrp="1"/>
          </p:cNvSpPr>
          <p:nvPr/>
        </p:nvSpPr>
        <p:spPr>
          <a:xfrm>
            <a:off x="1476375" y="42672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24-1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44648F-4449-4762-96B7-09717CC7C3BD}"/>
              </a:ext>
            </a:extLst>
          </p:cNvPr>
          <p:cNvSpPr>
            <a:spLocks noGrp="1"/>
          </p:cNvSpPr>
          <p:nvPr/>
        </p:nvSpPr>
        <p:spPr>
          <a:xfrm>
            <a:off x="3333750" y="4267200"/>
            <a:ext cx="371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Missing 23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BB04E6-A6D3-4EEC-83D6-3121C6B7366A}"/>
              </a:ext>
            </a:extLst>
          </p:cNvPr>
          <p:cNvSpPr>
            <a:spLocks noGrp="1"/>
          </p:cNvSpPr>
          <p:nvPr/>
        </p:nvSpPr>
        <p:spPr>
          <a:xfrm>
            <a:off x="7429500" y="4267200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CMP 4–&lt;8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9242BB-3AB6-4940-BE1E-6BA4872A5C21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762000" cy="590550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72525C-2096-4129-AAFC-634BBFCEC81D}"/>
              </a:ext>
            </a:extLst>
          </p:cNvPr>
          <p:cNvSpPr>
            <a:spLocks noGrp="1"/>
          </p:cNvSpPr>
          <p:nvPr/>
        </p:nvSpPr>
        <p:spPr>
          <a:xfrm>
            <a:off x="457200" y="50482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2C3384-F4BA-4A6D-9F7F-DF282B1845BC}"/>
              </a:ext>
            </a:extLst>
          </p:cNvPr>
          <p:cNvSpPr>
            <a:spLocks noGrp="1"/>
          </p:cNvSpPr>
          <p:nvPr/>
        </p:nvSpPr>
        <p:spPr>
          <a:xfrm>
            <a:off x="1476375" y="49530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12+1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A2B03A-91F5-4C8B-B7A1-67C8299B1974}"/>
              </a:ext>
            </a:extLst>
          </p:cNvPr>
          <p:cNvSpPr>
            <a:spLocks noGrp="1"/>
          </p:cNvSpPr>
          <p:nvPr/>
        </p:nvSpPr>
        <p:spPr>
          <a:xfrm>
            <a:off x="3333750" y="4953000"/>
            <a:ext cx="371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Extra tooth Slot 11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2B50C0-6DB3-4FA8-8EC1-7601D399962D}"/>
              </a:ext>
            </a:extLst>
          </p:cNvPr>
          <p:cNvSpPr>
            <a:spLocks noGrp="1"/>
          </p:cNvSpPr>
          <p:nvPr/>
        </p:nvSpPr>
        <p:spPr>
          <a:xfrm>
            <a:off x="7429500" y="4953000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CMP 2–&lt;4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313C51-439C-4F7C-B9E5-F6E6278D9B61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1277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2A93B"/>
                </a:solidFill>
              </a:defRPr>
            </a:pPr>
            <a:r>
              <a:rPr sz="1425" b="1">
                <a:solidFill>
                  <a:srgbClr val="F2A93B"/>
                </a:solidFill>
              </a:rPr>
              <a:t>การเพิ่ม Pattern ใหม่ต้องอ้างอิงรูปคลื่นจริง เพราะจำนวนฟันอย่างเดียวไม่ระบุเฟส CKP–CMP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3F735A-F79F-4EEE-A804-5E2DA5C8CDBF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1F3172-361D-438C-8EA9-88FE739A441B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0077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CE72E2B-4AEE-48DB-80A9-6A7DD7184530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652325-A2B6-4505-917C-2F48CB832994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ผู้ใช้ Browse Pattern ก่อนยืนยัน และปรับ RPM ด้วย Encoder แบบ Fine/Normal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6ABB38-B29C-4625-B439-98E8B3242DEE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7B9837-EE72-4745-A009-02F5C68F0D8E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2381250" cy="32385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A2538-4DC4-4BAA-A608-94455BB4E38E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B49D8-BE9B-4C90-9028-7AECEEF858A9}"/>
              </a:ext>
            </a:extLst>
          </p:cNvPr>
          <p:cNvSpPr>
            <a:spLocks noGrp="1"/>
          </p:cNvSpPr>
          <p:nvPr/>
        </p:nvSpPr>
        <p:spPr>
          <a:xfrm>
            <a:off x="647700" y="24288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เลือก 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5E8BF-28A4-4E8B-9C94-C7186470018B}"/>
              </a:ext>
            </a:extLst>
          </p:cNvPr>
          <p:cNvSpPr>
            <a:spLocks noGrp="1"/>
          </p:cNvSpPr>
          <p:nvPr/>
        </p:nvSpPr>
        <p:spPr>
          <a:xfrm>
            <a:off x="647700" y="3048000"/>
            <a:ext cx="2000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LEFT / RIGHT วนรายการ</a:t>
            </a:r>
          </a:p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CENTER ยืนยัน</a:t>
            </a:r>
          </a:p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ยืนยันแล้ว RPM กลับ 1,000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175D0B-C431-47D6-8279-C1523E40B74C}"/>
              </a:ext>
            </a:extLst>
          </p:cNvPr>
          <p:cNvSpPr>
            <a:spLocks noGrp="1"/>
          </p:cNvSpPr>
          <p:nvPr/>
        </p:nvSpPr>
        <p:spPr>
          <a:xfrm>
            <a:off x="3267075" y="1714500"/>
            <a:ext cx="2381250" cy="32385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E46577-B130-4EB7-8E6E-EC1E881C2737}"/>
              </a:ext>
            </a:extLst>
          </p:cNvPr>
          <p:cNvSpPr>
            <a:spLocks noGrp="1"/>
          </p:cNvSpPr>
          <p:nvPr/>
        </p:nvSpPr>
        <p:spPr>
          <a:xfrm>
            <a:off x="3457575" y="1905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A283C4-2421-42E1-9B48-4E8170194801}"/>
              </a:ext>
            </a:extLst>
          </p:cNvPr>
          <p:cNvSpPr>
            <a:spLocks noGrp="1"/>
          </p:cNvSpPr>
          <p:nvPr/>
        </p:nvSpPr>
        <p:spPr>
          <a:xfrm>
            <a:off x="3457575" y="24288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ปรับ RPM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E226C3-4278-4596-8469-60FC42525839}"/>
              </a:ext>
            </a:extLst>
          </p:cNvPr>
          <p:cNvSpPr>
            <a:spLocks noGrp="1"/>
          </p:cNvSpPr>
          <p:nvPr/>
        </p:nvSpPr>
        <p:spPr>
          <a:xfrm>
            <a:off x="3457575" y="3048000"/>
            <a:ext cx="2000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หมุน KY-040</a:t>
            </a:r>
          </a:p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ช่วง 100–15,000 RPM</a:t>
            </a:r>
          </a:p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กดแกนสลับ Step 100 / 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49997D-5C47-4BBB-BD4A-373962A4633E}"/>
              </a:ext>
            </a:extLst>
          </p:cNvPr>
          <p:cNvSpPr>
            <a:spLocks noGrp="1"/>
          </p:cNvSpPr>
          <p:nvPr/>
        </p:nvSpPr>
        <p:spPr>
          <a:xfrm>
            <a:off x="6076950" y="1714500"/>
            <a:ext cx="2381250" cy="32385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A01E85-A7FE-41A8-9901-C91A143D6726}"/>
              </a:ext>
            </a:extLst>
          </p:cNvPr>
          <p:cNvSpPr>
            <a:spLocks noGrp="1"/>
          </p:cNvSpPr>
          <p:nvPr/>
        </p:nvSpPr>
        <p:spPr>
          <a:xfrm>
            <a:off x="6267450" y="1905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DCD45-4282-4A0B-A3B3-F5CE578C239B}"/>
              </a:ext>
            </a:extLst>
          </p:cNvPr>
          <p:cNvSpPr>
            <a:spLocks noGrp="1"/>
          </p:cNvSpPr>
          <p:nvPr/>
        </p:nvSpPr>
        <p:spPr>
          <a:xfrm>
            <a:off x="6267450" y="24288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OLED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A30CC3-8C91-4640-A561-CFAB7A5ECD3A}"/>
              </a:ext>
            </a:extLst>
          </p:cNvPr>
          <p:cNvSpPr>
            <a:spLocks noGrp="1"/>
          </p:cNvSpPr>
          <p:nvPr/>
        </p:nvSpPr>
        <p:spPr>
          <a:xfrm>
            <a:off x="6267450" y="3048000"/>
            <a:ext cx="2000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ENGINE PATTERN</a:t>
            </a:r>
          </a:p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SELECTED / CENTER = SET</a:t>
            </a:r>
          </a:p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RPM และ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B5BE00-EB45-4397-8C31-882CB09DE6EC}"/>
              </a:ext>
            </a:extLst>
          </p:cNvPr>
          <p:cNvSpPr>
            <a:spLocks noGrp="1"/>
          </p:cNvSpPr>
          <p:nvPr/>
        </p:nvSpPr>
        <p:spPr>
          <a:xfrm>
            <a:off x="8886825" y="1714500"/>
            <a:ext cx="2381250" cy="32385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100A35-7E66-463E-9647-147C8BA6FC2B}"/>
              </a:ext>
            </a:extLst>
          </p:cNvPr>
          <p:cNvSpPr>
            <a:spLocks noGrp="1"/>
          </p:cNvSpPr>
          <p:nvPr/>
        </p:nvSpPr>
        <p:spPr>
          <a:xfrm>
            <a:off x="9077325" y="1905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0D697B-7013-4C54-8966-20598E0DC741}"/>
              </a:ext>
            </a:extLst>
          </p:cNvPr>
          <p:cNvSpPr>
            <a:spLocks noGrp="1"/>
          </p:cNvSpPr>
          <p:nvPr/>
        </p:nvSpPr>
        <p:spPr>
          <a:xfrm>
            <a:off x="9077325" y="24288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Refresh control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9C2896-B1EA-4A96-BA3B-C414916409D1}"/>
              </a:ext>
            </a:extLst>
          </p:cNvPr>
          <p:cNvSpPr>
            <a:spLocks noGrp="1"/>
          </p:cNvSpPr>
          <p:nvPr/>
        </p:nvSpPr>
        <p:spPr>
          <a:xfrm>
            <a:off x="9077325" y="3048000"/>
            <a:ext cx="2000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Debounce 30 ms</a:t>
            </a:r>
          </a:p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Display ≥ 80 ms</a:t>
            </a:r>
          </a:p>
          <a:p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ลดภาระ I2C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DB3120-F23E-4266-B0B1-DDFBBE5BD37D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1127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C93C37"/>
                </a:solidFill>
              </a:defRPr>
            </a:pPr>
            <a:r>
              <a:rPr sz="1725" b="1">
                <a:solidFill>
                  <a:srgbClr val="C93C37"/>
                </a:solidFill>
              </a:rPr>
              <a:t>สวิตช์แดง = Power ON/OFF; โค้ดปัจจุบันไม่มี Software RUN/STOP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3807D8-A1AF-47B7-BCD1-A6DE4EA965EC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50C1A5-804B-4B67-AB39-1DAC6FDCE2DC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5252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6AFD134-0B67-4798-918D-05E08304E7EE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F684E-B35C-43D0-8AD1-F53A02AD1A31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ติดตั้งให้เป็น Stand-alone ด้วย main.py และ OLED Driver ที่ถูกต้อง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91968A-1440-4AF0-8DCD-55848A334B6E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D41DAC-8BEA-42D8-BF6C-B865600C0314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3429000" cy="1476375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45FE0E-8A84-4B39-B40E-C1D5A8609383}"/>
              </a:ext>
            </a:extLst>
          </p:cNvPr>
          <p:cNvSpPr>
            <a:spLocks noGrp="1"/>
          </p:cNvSpPr>
          <p:nvPr/>
        </p:nvSpPr>
        <p:spPr>
          <a:xfrm>
            <a:off x="628650" y="17430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FAECF-7BFB-42C0-9585-5BA9055863C9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ติดตั้ง Firmware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40C336-5908-48A2-AB4D-63832CA7D56C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MicroPython สำหรับ RP2040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3ED38F-A987-46FD-989E-2C1C206D867E}"/>
              </a:ext>
            </a:extLst>
          </p:cNvPr>
          <p:cNvSpPr>
            <a:spLocks noGrp="1"/>
          </p:cNvSpPr>
          <p:nvPr/>
        </p:nvSpPr>
        <p:spPr>
          <a:xfrm>
            <a:off x="4267200" y="1571625"/>
            <a:ext cx="3429000" cy="1476375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3E4132-472F-4431-966D-D8307E3AFF28}"/>
              </a:ext>
            </a:extLst>
          </p:cNvPr>
          <p:cNvSpPr>
            <a:spLocks noGrp="1"/>
          </p:cNvSpPr>
          <p:nvPr/>
        </p:nvSpPr>
        <p:spPr>
          <a:xfrm>
            <a:off x="4438650" y="17430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5F668D-85CF-4B14-82C2-9E95841FFD5E}"/>
              </a:ext>
            </a:extLst>
          </p:cNvPr>
          <p:cNvSpPr>
            <a:spLocks noGrp="1"/>
          </p:cNvSpPr>
          <p:nvPr/>
        </p:nvSpPr>
        <p:spPr>
          <a:xfrm>
            <a:off x="4438650" y="212407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เตรียมไฟล์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20ED23-2918-4ABD-84CC-4C7ED180872E}"/>
              </a:ext>
            </a:extLst>
          </p:cNvPr>
          <p:cNvSpPr>
            <a:spLocks noGrp="1"/>
          </p:cNvSpPr>
          <p:nvPr/>
        </p:nvSpPr>
        <p:spPr>
          <a:xfrm>
            <a:off x="4438650" y="25527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เปลี่ยน main(4).py → main.py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F04B5-AEF4-4A2D-97E7-7B1BE9D2F1B7}"/>
              </a:ext>
            </a:extLst>
          </p:cNvPr>
          <p:cNvSpPr>
            <a:spLocks noGrp="1"/>
          </p:cNvSpPr>
          <p:nvPr/>
        </p:nvSpPr>
        <p:spPr>
          <a:xfrm>
            <a:off x="8077200" y="1571625"/>
            <a:ext cx="3429000" cy="1476375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97656F-5F09-41BD-B7EF-F7399743CB0B}"/>
              </a:ext>
            </a:extLst>
          </p:cNvPr>
          <p:cNvSpPr>
            <a:spLocks noGrp="1"/>
          </p:cNvSpPr>
          <p:nvPr/>
        </p:nvSpPr>
        <p:spPr>
          <a:xfrm>
            <a:off x="8248650" y="17430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45DE04-7DDB-43C9-A4EE-24254D58336D}"/>
              </a:ext>
            </a:extLst>
          </p:cNvPr>
          <p:cNvSpPr>
            <a:spLocks noGrp="1"/>
          </p:cNvSpPr>
          <p:nvPr/>
        </p:nvSpPr>
        <p:spPr>
          <a:xfrm>
            <a:off x="8248650" y="212407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อัปโหลด Driver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8094AC-0D3F-470C-9456-2686E65E05BE}"/>
              </a:ext>
            </a:extLst>
          </p:cNvPr>
          <p:cNvSpPr>
            <a:spLocks noGrp="1"/>
          </p:cNvSpPr>
          <p:nvPr/>
        </p:nvSpPr>
        <p:spPr>
          <a:xfrm>
            <a:off x="8248650" y="25527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sh1106.py หรือ ssd1306.py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698AC-99C5-4F57-B5A0-29CDFA82EBBC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3429000" cy="1476375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F6258F-0716-41C4-846F-AA7895C1A7DD}"/>
              </a:ext>
            </a:extLst>
          </p:cNvPr>
          <p:cNvSpPr>
            <a:spLocks noGrp="1"/>
          </p:cNvSpPr>
          <p:nvPr/>
        </p:nvSpPr>
        <p:spPr>
          <a:xfrm>
            <a:off x="628650" y="36957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18C4B6-CBC0-46FD-8EA5-8AFEE4879ECD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Scan I2C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C1B5F4-A6B7-48CA-A391-3619879A1E78}"/>
              </a:ext>
            </a:extLst>
          </p:cNvPr>
          <p:cNvSpPr>
            <a:spLocks noGrp="1"/>
          </p:cNvSpPr>
          <p:nvPr/>
        </p:nvSpPr>
        <p:spPr>
          <a:xfrm>
            <a:off x="628650" y="45053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ยืนยัน OLED Address 0x3C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EDBBC0-EC1D-4A0E-A636-79319C853E0F}"/>
              </a:ext>
            </a:extLst>
          </p:cNvPr>
          <p:cNvSpPr>
            <a:spLocks noGrp="1"/>
          </p:cNvSpPr>
          <p:nvPr/>
        </p:nvSpPr>
        <p:spPr>
          <a:xfrm>
            <a:off x="4267200" y="3524250"/>
            <a:ext cx="3429000" cy="1476375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82DD2A-BCA7-4768-9AD0-DDBC959D6338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464F4"/>
                </a:solidFill>
              </a:defRPr>
            </a:pPr>
            <a:r>
              <a:rPr sz="1275" b="1">
                <a:solidFill>
                  <a:srgbClr val="1464F4"/>
                </a:solidFill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5EB4C0-0035-46E7-98C1-C4F38EABC0E7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ทดสอบผ่าน USB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E6DB6F-1905-4D8B-B638-797D091414F3}"/>
              </a:ext>
            </a:extLst>
          </p:cNvPr>
          <p:cNvSpPr>
            <a:spLocks noGrp="1"/>
          </p:cNvSpPr>
          <p:nvPr/>
        </p:nvSpPr>
        <p:spPr>
          <a:xfrm>
            <a:off x="4438650" y="45053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ตรวจ REPL, Pattern, RPM, Step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09AF5F-AFCB-4A34-9954-D786C95359BB}"/>
              </a:ext>
            </a:extLst>
          </p:cNvPr>
          <p:cNvSpPr>
            <a:spLocks noGrp="1"/>
          </p:cNvSpPr>
          <p:nvPr/>
        </p:nvSpPr>
        <p:spPr>
          <a:xfrm>
            <a:off x="8077200" y="3524250"/>
            <a:ext cx="3429000" cy="147637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0EEB79-D58E-4898-94BE-348A4AA87F64}"/>
              </a:ext>
            </a:extLst>
          </p:cNvPr>
          <p:cNvSpPr>
            <a:spLocks noGrp="1"/>
          </p:cNvSpPr>
          <p:nvPr/>
        </p:nvSpPr>
        <p:spPr>
          <a:xfrm>
            <a:off x="8248650" y="36957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67DF53-A33A-4F20-8560-0458A5F2939F}"/>
              </a:ext>
            </a:extLst>
          </p:cNvPr>
          <p:cNvSpPr>
            <a:spLocks noGrp="1"/>
          </p:cNvSpPr>
          <p:nvPr/>
        </p:nvSpPr>
        <p:spPr>
          <a:xfrm>
            <a:off x="8248650" y="40767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ประกอบลงกล่อง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C93BA2-36E3-4017-893E-9326BDA81EB3}"/>
              </a:ext>
            </a:extLst>
          </p:cNvPr>
          <p:cNvSpPr>
            <a:spLocks noGrp="1"/>
          </p:cNvSpPr>
          <p:nvPr/>
        </p:nvSpPr>
        <p:spPr>
          <a:xfrm>
            <a:off x="8248650" y="45053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ปิดไฟ ตรวจ Continuity / Short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16102A-9C19-4821-8B30-E82E447C788F}"/>
              </a:ext>
            </a:extLst>
          </p:cNvPr>
          <p:cNvSpPr>
            <a:spLocks noGrp="1"/>
          </p:cNvSpPr>
          <p:nvPr/>
        </p:nvSpPr>
        <p:spPr>
          <a:xfrm>
            <a:off x="457200" y="5667375"/>
            <a:ext cx="11277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2A93B"/>
                </a:solidFill>
              </a:defRPr>
            </a:pPr>
            <a:r>
              <a:rPr sz="1425" b="1">
                <a:solidFill>
                  <a:srgbClr val="F2A93B"/>
                </a:solidFill>
              </a:rPr>
              <a:t>MicroPython เรียก boot.py ก่อนและ main.py หลัง Boot — ชื่อ main(4).py จะไม่เริ่มเอง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351F06-EBD6-406B-95B2-C9944390DF42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1972BE-3342-439C-A2FB-C82A2982FD94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1496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0A6AD30-5E96-41F5-9FC3-3E2E004ED56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060CC6-B0AF-4E9B-951E-2C97E73685F0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ขั้นตอนใช้งาน 8 ข้อเริ่มจากเครื่องมือวัด ก่อนเชื่อมต่อระบบเป้าหมาย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480A6B-B6E4-4DC0-9523-63562989E4E6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DC5CA1-24D7-4908-AC4E-31FF9D594570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33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 dirty="0">
                <a:solidFill>
                  <a:srgbClr val="1464F4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89C58-61B0-4AAB-BE9B-29AFDACFF3A8}"/>
              </a:ext>
            </a:extLst>
          </p:cNvPr>
          <p:cNvSpPr>
            <a:spLocks noGrp="1"/>
          </p:cNvSpPr>
          <p:nvPr/>
        </p:nvSpPr>
        <p:spPr>
          <a:xfrm>
            <a:off x="1095375" y="142875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ตรวจ Adapter, Buck, CMP/CKP และ GND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099A6-951C-44ED-B568-A2F670551008}"/>
              </a:ext>
            </a:extLst>
          </p:cNvPr>
          <p:cNvSpPr>
            <a:spLocks noGrp="1"/>
          </p:cNvSpPr>
          <p:nvPr/>
        </p:nvSpPr>
        <p:spPr>
          <a:xfrm>
            <a:off x="1095375" y="1895475"/>
            <a:ext cx="10191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F8D0A-49CF-410D-841E-511410E9E063}"/>
              </a:ext>
            </a:extLst>
          </p:cNvPr>
          <p:cNvSpPr>
            <a:spLocks noGrp="1"/>
          </p:cNvSpPr>
          <p:nvPr/>
        </p:nvSpPr>
        <p:spPr>
          <a:xfrm>
            <a:off x="523875" y="2019300"/>
            <a:ext cx="33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720086-7D6E-4B4C-A429-893316AEC3B3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428625" cy="419100"/>
          </a:xfrm>
          <a:prstGeom prst="rect">
            <a:avLst/>
          </a:prstGeom>
          <a:solidFill>
            <a:srgbClr val="0070C0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th-TH" sz="135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02DB5B-7726-41DC-B0BA-B59A69605BE2}"/>
              </a:ext>
            </a:extLst>
          </p:cNvPr>
          <p:cNvSpPr>
            <a:spLocks noGrp="1"/>
          </p:cNvSpPr>
          <p:nvPr/>
        </p:nvSpPr>
        <p:spPr>
          <a:xfrm>
            <a:off x="1095375" y="201930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ต่อ Oscilloscope / Logic Analyzer ที่รับ 3.3V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0E4B7A-56D5-4774-8FB5-FBDD60CADCD0}"/>
              </a:ext>
            </a:extLst>
          </p:cNvPr>
          <p:cNvSpPr>
            <a:spLocks noGrp="1"/>
          </p:cNvSpPr>
          <p:nvPr/>
        </p:nvSpPr>
        <p:spPr>
          <a:xfrm>
            <a:off x="1095375" y="2486025"/>
            <a:ext cx="10191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ECE09-11EB-4468-8D65-94E01A23B519}"/>
              </a:ext>
            </a:extLst>
          </p:cNvPr>
          <p:cNvSpPr>
            <a:spLocks noGrp="1"/>
          </p:cNvSpPr>
          <p:nvPr/>
        </p:nvSpPr>
        <p:spPr>
          <a:xfrm>
            <a:off x="523875" y="2609850"/>
            <a:ext cx="33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 dirty="0">
                <a:solidFill>
                  <a:srgbClr val="1464F4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20722F-583B-4559-B520-5C5325CEDF01}"/>
              </a:ext>
            </a:extLst>
          </p:cNvPr>
          <p:cNvSpPr>
            <a:spLocks noGrp="1"/>
          </p:cNvSpPr>
          <p:nvPr/>
        </p:nvSpPr>
        <p:spPr>
          <a:xfrm>
            <a:off x="1095375" y="260985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เปิดสวิตช์ — จอแสดง 60-2 / SELECTED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B89C5-DC50-4840-AB39-A00E07EEDB98}"/>
              </a:ext>
            </a:extLst>
          </p:cNvPr>
          <p:cNvSpPr>
            <a:spLocks noGrp="1"/>
          </p:cNvSpPr>
          <p:nvPr/>
        </p:nvSpPr>
        <p:spPr>
          <a:xfrm>
            <a:off x="1095375" y="3076575"/>
            <a:ext cx="10191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8AD927-BD0F-4931-8FD5-F050E9C72246}"/>
              </a:ext>
            </a:extLst>
          </p:cNvPr>
          <p:cNvSpPr>
            <a:spLocks noGrp="1"/>
          </p:cNvSpPr>
          <p:nvPr/>
        </p:nvSpPr>
        <p:spPr>
          <a:xfrm>
            <a:off x="523875" y="3200400"/>
            <a:ext cx="33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55A402-E03F-4A67-A3AA-3FECFBFD99E9}"/>
              </a:ext>
            </a:extLst>
          </p:cNvPr>
          <p:cNvSpPr>
            <a:spLocks noGrp="1"/>
          </p:cNvSpPr>
          <p:nvPr/>
        </p:nvSpPr>
        <p:spPr>
          <a:xfrm>
            <a:off x="1095375" y="320040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LEFT/RIGHT เลือก และ CENTER ยืนยัน Pattern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4D7209-F3CD-403E-AF18-B0BAF8909E7C}"/>
              </a:ext>
            </a:extLst>
          </p:cNvPr>
          <p:cNvSpPr>
            <a:spLocks noGrp="1"/>
          </p:cNvSpPr>
          <p:nvPr/>
        </p:nvSpPr>
        <p:spPr>
          <a:xfrm>
            <a:off x="1095375" y="3667125"/>
            <a:ext cx="10191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6950BD-7A8C-477C-80B5-6A365EF7B923}"/>
              </a:ext>
            </a:extLst>
          </p:cNvPr>
          <p:cNvSpPr>
            <a:spLocks noGrp="1"/>
          </p:cNvSpPr>
          <p:nvPr/>
        </p:nvSpPr>
        <p:spPr>
          <a:xfrm>
            <a:off x="523875" y="3790950"/>
            <a:ext cx="33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A053AF-B939-40B0-97D3-7FB9C5B876C7}"/>
              </a:ext>
            </a:extLst>
          </p:cNvPr>
          <p:cNvSpPr>
            <a:spLocks noGrp="1"/>
          </p:cNvSpPr>
          <p:nvPr/>
        </p:nvSpPr>
        <p:spPr>
          <a:xfrm>
            <a:off x="1095375" y="379095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หมุน Encoder ปรับ RPM 100–15,000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F977D9-A288-4913-847F-4892C4D5DF38}"/>
              </a:ext>
            </a:extLst>
          </p:cNvPr>
          <p:cNvSpPr>
            <a:spLocks noGrp="1"/>
          </p:cNvSpPr>
          <p:nvPr/>
        </p:nvSpPr>
        <p:spPr>
          <a:xfrm>
            <a:off x="1095375" y="4257675"/>
            <a:ext cx="10191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1E9EA9-92FD-4D06-90C0-BF396037A1C5}"/>
              </a:ext>
            </a:extLst>
          </p:cNvPr>
          <p:cNvSpPr>
            <a:spLocks noGrp="1"/>
          </p:cNvSpPr>
          <p:nvPr/>
        </p:nvSpPr>
        <p:spPr>
          <a:xfrm>
            <a:off x="523875" y="4381500"/>
            <a:ext cx="33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0CCB11-ABF4-4200-AD73-6ABD2D398E26}"/>
              </a:ext>
            </a:extLst>
          </p:cNvPr>
          <p:cNvSpPr>
            <a:spLocks noGrp="1"/>
          </p:cNvSpPr>
          <p:nvPr/>
        </p:nvSpPr>
        <p:spPr>
          <a:xfrm>
            <a:off x="1095375" y="438150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กด Encoder สลับ STEP 100 / 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6B1BB9-51EA-44D3-A032-BF93C5C82D1F}"/>
              </a:ext>
            </a:extLst>
          </p:cNvPr>
          <p:cNvSpPr>
            <a:spLocks noGrp="1"/>
          </p:cNvSpPr>
          <p:nvPr/>
        </p:nvSpPr>
        <p:spPr>
          <a:xfrm>
            <a:off x="1095375" y="4848225"/>
            <a:ext cx="10191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F80164-8B8E-4980-AB2B-E6DDD5059483}"/>
              </a:ext>
            </a:extLst>
          </p:cNvPr>
          <p:cNvSpPr>
            <a:spLocks noGrp="1"/>
          </p:cNvSpPr>
          <p:nvPr/>
        </p:nvSpPr>
        <p:spPr>
          <a:xfrm>
            <a:off x="523875" y="4972050"/>
            <a:ext cx="33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2A44AA-C025-497A-9E89-D2BDC2311EDE}"/>
              </a:ext>
            </a:extLst>
          </p:cNvPr>
          <p:cNvSpPr>
            <a:spLocks noGrp="1"/>
          </p:cNvSpPr>
          <p:nvPr/>
        </p:nvSpPr>
        <p:spPr>
          <a:xfrm>
            <a:off x="1095375" y="497205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ตรวจฟัน คาบ Duty และ CMP phase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8ADD4C-CFF5-4E69-B31D-339CEF04C6F7}"/>
              </a:ext>
            </a:extLst>
          </p:cNvPr>
          <p:cNvSpPr>
            <a:spLocks noGrp="1"/>
          </p:cNvSpPr>
          <p:nvPr/>
        </p:nvSpPr>
        <p:spPr>
          <a:xfrm>
            <a:off x="1095375" y="5438775"/>
            <a:ext cx="10191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A50A51-2D25-4F9C-8A0F-4311F57BAE2D}"/>
              </a:ext>
            </a:extLst>
          </p:cNvPr>
          <p:cNvSpPr>
            <a:spLocks noGrp="1"/>
          </p:cNvSpPr>
          <p:nvPr/>
        </p:nvSpPr>
        <p:spPr>
          <a:xfrm>
            <a:off x="523875" y="5562600"/>
            <a:ext cx="33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339A76-F8E1-4760-85C1-125979419498}"/>
              </a:ext>
            </a:extLst>
          </p:cNvPr>
          <p:cNvSpPr>
            <a:spLocks noGrp="1"/>
          </p:cNvSpPr>
          <p:nvPr/>
        </p:nvSpPr>
        <p:spPr>
          <a:xfrm>
            <a:off x="1095375" y="5562600"/>
            <a:ext cx="1019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OFF ก่อนถอดสายหรือเปลี่ยนวงจร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D8B375-87FD-424F-9F9F-06A15031C8F4}"/>
              </a:ext>
            </a:extLst>
          </p:cNvPr>
          <p:cNvSpPr>
            <a:spLocks noGrp="1"/>
          </p:cNvSpPr>
          <p:nvPr/>
        </p:nvSpPr>
        <p:spPr>
          <a:xfrm>
            <a:off x="1095375" y="6029325"/>
            <a:ext cx="10191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3C1D60-0913-42FE-AE39-BC86697033F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D80B30-7C92-4AF4-A636-EA3AAA33D81F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5158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2C62BFD-E459-417A-A0BE-344920DAEB3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474B2E-80F7-4255-BC85-D049EF672826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QC ต้องยืนยันไฟเลี้ยง UI รูปคลื่น และความต่อเนื่องก่อนส่งมอบ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DC7A45-885C-481D-8732-F695B760AC0D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7B418-7E64-4DFB-9C7D-9534E9D82767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1714500" cy="5524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967346-9670-467B-9C31-D5FB1B55A55B}"/>
              </a:ext>
            </a:extLst>
          </p:cNvPr>
          <p:cNvSpPr>
            <a:spLocks noGrp="1"/>
          </p:cNvSpPr>
          <p:nvPr/>
        </p:nvSpPr>
        <p:spPr>
          <a:xfrm>
            <a:off x="619125" y="1552575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Power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9B4A48-C33E-4F56-9A6C-5045A0683590}"/>
              </a:ext>
            </a:extLst>
          </p:cNvPr>
          <p:cNvSpPr>
            <a:spLocks noGrp="1"/>
          </p:cNvSpPr>
          <p:nvPr/>
        </p:nvSpPr>
        <p:spPr>
          <a:xfrm>
            <a:off x="2476500" y="147637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Buck 5.0V / 3.3V Rail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97647-619B-4081-A2F5-A2CC6EC55473}"/>
              </a:ext>
            </a:extLst>
          </p:cNvPr>
          <p:cNvSpPr>
            <a:spLocks noGrp="1"/>
          </p:cNvSpPr>
          <p:nvPr/>
        </p:nvSpPr>
        <p:spPr>
          <a:xfrm>
            <a:off x="8667750" y="14763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Multimeter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94419C-CD70-4719-91A4-CA978E7B0FB7}"/>
              </a:ext>
            </a:extLst>
          </p:cNvPr>
          <p:cNvSpPr>
            <a:spLocks noGrp="1"/>
          </p:cNvSpPr>
          <p:nvPr/>
        </p:nvSpPr>
        <p:spPr>
          <a:xfrm>
            <a:off x="457200" y="2105025"/>
            <a:ext cx="1714500" cy="5524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BC2E0B-A7FF-49FB-BCE5-2FC49C213B18}"/>
              </a:ext>
            </a:extLst>
          </p:cNvPr>
          <p:cNvSpPr>
            <a:spLocks noGrp="1"/>
          </p:cNvSpPr>
          <p:nvPr/>
        </p:nvSpPr>
        <p:spPr>
          <a:xfrm>
            <a:off x="619125" y="2181225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Display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F3B946-7E2D-4BE5-A5B8-5953B4D2EF32}"/>
              </a:ext>
            </a:extLst>
          </p:cNvPr>
          <p:cNvSpPr>
            <a:spLocks noGrp="1"/>
          </p:cNvSpPr>
          <p:nvPr/>
        </p:nvSpPr>
        <p:spPr>
          <a:xfrm>
            <a:off x="2476500" y="210502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OLED 0x3C แสดงผลครบ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26A3A2-ABA4-429D-9911-6DAA82C51A1C}"/>
              </a:ext>
            </a:extLst>
          </p:cNvPr>
          <p:cNvSpPr>
            <a:spLocks noGrp="1"/>
          </p:cNvSpPr>
          <p:nvPr/>
        </p:nvSpPr>
        <p:spPr>
          <a:xfrm>
            <a:off x="8667750" y="210502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REPL + OLED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0366EA-60C2-4BB6-A020-63F0DEEAA47A}"/>
              </a:ext>
            </a:extLst>
          </p:cNvPr>
          <p:cNvSpPr>
            <a:spLocks noGrp="1"/>
          </p:cNvSpPr>
          <p:nvPr/>
        </p:nvSpPr>
        <p:spPr>
          <a:xfrm>
            <a:off x="457200" y="2733675"/>
            <a:ext cx="1714500" cy="5524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BBD7D-C305-449B-9EAC-5EEC20AA5E60}"/>
              </a:ext>
            </a:extLst>
          </p:cNvPr>
          <p:cNvSpPr>
            <a:spLocks noGrp="1"/>
          </p:cNvSpPr>
          <p:nvPr/>
        </p:nvSpPr>
        <p:spPr>
          <a:xfrm>
            <a:off x="619125" y="2809875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Controls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872BB9-F2D9-4687-BC07-2A3AB84A751F}"/>
              </a:ext>
            </a:extLst>
          </p:cNvPr>
          <p:cNvSpPr>
            <a:spLocks noGrp="1"/>
          </p:cNvSpPr>
          <p:nvPr/>
        </p:nvSpPr>
        <p:spPr>
          <a:xfrm>
            <a:off x="2476500" y="273367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ปุ่มไม่ Double trigger; Encoder ถูกทิศ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5E948D-061D-4409-88B5-0841E402E711}"/>
              </a:ext>
            </a:extLst>
          </p:cNvPr>
          <p:cNvSpPr>
            <a:spLocks noGrp="1"/>
          </p:cNvSpPr>
          <p:nvPr/>
        </p:nvSpPr>
        <p:spPr>
          <a:xfrm>
            <a:off x="8667750" y="27336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Functional test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83C39E-9694-4DC5-83CC-FC6A82DB6F35}"/>
              </a:ext>
            </a:extLst>
          </p:cNvPr>
          <p:cNvSpPr>
            <a:spLocks noGrp="1"/>
          </p:cNvSpPr>
          <p:nvPr/>
        </p:nvSpPr>
        <p:spPr>
          <a:xfrm>
            <a:off x="457200" y="3362325"/>
            <a:ext cx="1714500" cy="5524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76DAE-E2FF-4EF7-8D0D-5F8EC71D0F05}"/>
              </a:ext>
            </a:extLst>
          </p:cNvPr>
          <p:cNvSpPr>
            <a:spLocks noGrp="1"/>
          </p:cNvSpPr>
          <p:nvPr/>
        </p:nvSpPr>
        <p:spPr>
          <a:xfrm>
            <a:off x="619125" y="3438525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Amplitude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797981-A267-4614-B894-7FD2C29D2A4A}"/>
              </a:ext>
            </a:extLst>
          </p:cNvPr>
          <p:cNvSpPr>
            <a:spLocks noGrp="1"/>
          </p:cNvSpPr>
          <p:nvPr/>
        </p:nvSpPr>
        <p:spPr>
          <a:xfrm>
            <a:off x="2476500" y="336232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CKP/CMP ใกล้ 0 / 3.3V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E7BDEB-555D-4C2E-95C2-1D3A628F30E1}"/>
              </a:ext>
            </a:extLst>
          </p:cNvPr>
          <p:cNvSpPr>
            <a:spLocks noGrp="1"/>
          </p:cNvSpPr>
          <p:nvPr/>
        </p:nvSpPr>
        <p:spPr>
          <a:xfrm>
            <a:off x="8667750" y="336232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Oscilloscope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D6B78E-F73D-4EF5-ACFF-44AA809DF688}"/>
              </a:ext>
            </a:extLst>
          </p:cNvPr>
          <p:cNvSpPr>
            <a:spLocks noGrp="1"/>
          </p:cNvSpPr>
          <p:nvPr/>
        </p:nvSpPr>
        <p:spPr>
          <a:xfrm>
            <a:off x="457200" y="3990975"/>
            <a:ext cx="1714500" cy="5524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63F92E-61BA-42E1-8EFA-6E5D12BA6A79}"/>
              </a:ext>
            </a:extLst>
          </p:cNvPr>
          <p:cNvSpPr>
            <a:spLocks noGrp="1"/>
          </p:cNvSpPr>
          <p:nvPr/>
        </p:nvSpPr>
        <p:spPr>
          <a:xfrm>
            <a:off x="619125" y="4067175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Pattern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25135E-917D-467B-8BC6-AFFB51224608}"/>
              </a:ext>
            </a:extLst>
          </p:cNvPr>
          <p:cNvSpPr>
            <a:spLocks noGrp="1"/>
          </p:cNvSpPr>
          <p:nvPr/>
        </p:nvSpPr>
        <p:spPr>
          <a:xfrm>
            <a:off x="2476500" y="399097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Missing / Extra / CMP phase ตรงฐานข้อมูล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D5BE93-F3F0-4AE9-A1FF-7CA2CAC31048}"/>
              </a:ext>
            </a:extLst>
          </p:cNvPr>
          <p:cNvSpPr>
            <a:spLocks noGrp="1"/>
          </p:cNvSpPr>
          <p:nvPr/>
        </p:nvSpPr>
        <p:spPr>
          <a:xfrm>
            <a:off x="8667750" y="39909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Logic Analyzer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19B3CD-BCD7-4F5B-953D-334F232DAA87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1714500" cy="5524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B29843-3819-4277-A53C-844D2548FCA6}"/>
              </a:ext>
            </a:extLst>
          </p:cNvPr>
          <p:cNvSpPr>
            <a:spLocks noGrp="1"/>
          </p:cNvSpPr>
          <p:nvPr/>
        </p:nvSpPr>
        <p:spPr>
          <a:xfrm>
            <a:off x="619125" y="4695825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Accuracy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71F2F9-6A91-49A8-80A7-80CC4A942610}"/>
              </a:ext>
            </a:extLst>
          </p:cNvPr>
          <p:cNvSpPr>
            <a:spLocks noGrp="1"/>
          </p:cNvSpPr>
          <p:nvPr/>
        </p:nvSpPr>
        <p:spPr>
          <a:xfrm>
            <a:off x="2476500" y="461962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Frequency สัมพันธ์ RPM × Slot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F6AC7E-A462-497A-AC69-06470FF81C28}"/>
              </a:ext>
            </a:extLst>
          </p:cNvPr>
          <p:cNvSpPr>
            <a:spLocks noGrp="1"/>
          </p:cNvSpPr>
          <p:nvPr/>
        </p:nvSpPr>
        <p:spPr>
          <a:xfrm>
            <a:off x="8667750" y="461962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Oscilloscope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E999D3-E765-4AC1-8406-A7D4094A825E}"/>
              </a:ext>
            </a:extLst>
          </p:cNvPr>
          <p:cNvSpPr>
            <a:spLocks noGrp="1"/>
          </p:cNvSpPr>
          <p:nvPr/>
        </p:nvSpPr>
        <p:spPr>
          <a:xfrm>
            <a:off x="457200" y="5248275"/>
            <a:ext cx="1714500" cy="5524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65071A-80D4-451E-94F6-639F937C11E5}"/>
              </a:ext>
            </a:extLst>
          </p:cNvPr>
          <p:cNvSpPr>
            <a:spLocks noGrp="1"/>
          </p:cNvSpPr>
          <p:nvPr/>
        </p:nvSpPr>
        <p:spPr>
          <a:xfrm>
            <a:off x="619125" y="5324475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464F4"/>
                </a:solidFill>
              </a:defRPr>
            </a:pPr>
            <a:r>
              <a:rPr sz="1425" b="1">
                <a:solidFill>
                  <a:srgbClr val="1464F4"/>
                </a:solidFill>
              </a:rPr>
              <a:t>Burn-in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32BB4-221A-4988-9B87-CCC8DE848803}"/>
              </a:ext>
            </a:extLst>
          </p:cNvPr>
          <p:cNvSpPr>
            <a:spLocks noGrp="1"/>
          </p:cNvSpPr>
          <p:nvPr/>
        </p:nvSpPr>
        <p:spPr>
          <a:xfrm>
            <a:off x="2476500" y="524827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ไม่ Reset / ค้าง 1–2 ชั่วโมง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0B4004-5C40-4F80-9C30-8CF836F8160A}"/>
              </a:ext>
            </a:extLst>
          </p:cNvPr>
          <p:cNvSpPr>
            <a:spLocks noGrp="1"/>
          </p:cNvSpPr>
          <p:nvPr/>
        </p:nvSpPr>
        <p:spPr>
          <a:xfrm>
            <a:off x="8667750" y="52482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QC plan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79E92D-3E8B-40FB-A73B-2838EA5BCD81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A38B8B-54B5-4906-A047-3C2B3472E7BC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23762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83B826A-2968-4408-AAE2-13406BD2D2E0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4A07F1-B534-4C10-A3DC-4FDF5B740F9A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การแก้ปัญหาเริ่มจากไฟเลี้ยง Driver GPIO และ Common GND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60AB61-70E5-4024-88FD-93E1AF3EB98E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529911-9021-48A2-B07B-789BABA2AEA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จอไม่ติด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277E23-B8CC-44FA-8CA2-BA74A702C446}"/>
              </a:ext>
            </a:extLst>
          </p:cNvPr>
          <p:cNvSpPr>
            <a:spLocks noGrp="1"/>
          </p:cNvSpPr>
          <p:nvPr/>
        </p:nvSpPr>
        <p:spPr>
          <a:xfrm>
            <a:off x="3286125" y="1504950"/>
            <a:ext cx="38100" cy="371475"/>
          </a:xfrm>
          <a:prstGeom prst="rect">
            <a:avLst/>
          </a:prstGeom>
          <a:solidFill>
            <a:srgbClr val="F2A93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2DCEC6-84BF-4D5E-A0E7-B21232810E3B}"/>
              </a:ext>
            </a:extLst>
          </p:cNvPr>
          <p:cNvSpPr>
            <a:spLocks noGrp="1"/>
          </p:cNvSpPr>
          <p:nvPr/>
        </p:nvSpPr>
        <p:spPr>
          <a:xfrm>
            <a:off x="3619500" y="1428750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วัด 3.3V / Scan 0x3C / ตรวจ SDA-SCL และ Driver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E02EB6-ED30-4DF2-82D8-9CF40A18E3A2}"/>
              </a:ext>
            </a:extLst>
          </p:cNvPr>
          <p:cNvSpPr>
            <a:spLocks noGrp="1"/>
          </p:cNvSpPr>
          <p:nvPr/>
        </p:nvSpPr>
        <p:spPr>
          <a:xfrm>
            <a:off x="457200" y="2085975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ImportError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44C693-2E7B-4855-B91A-7293CCF4BC96}"/>
              </a:ext>
            </a:extLst>
          </p:cNvPr>
          <p:cNvSpPr>
            <a:spLocks noGrp="1"/>
          </p:cNvSpPr>
          <p:nvPr/>
        </p:nvSpPr>
        <p:spPr>
          <a:xfrm>
            <a:off x="3286125" y="2162175"/>
            <a:ext cx="38100" cy="371475"/>
          </a:xfrm>
          <a:prstGeom prst="rect">
            <a:avLst/>
          </a:prstGeom>
          <a:solidFill>
            <a:srgbClr val="F2A93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5947B0-AB59-4B5A-BC9C-9DB7B48411D8}"/>
              </a:ext>
            </a:extLst>
          </p:cNvPr>
          <p:cNvSpPr>
            <a:spLocks noGrp="1"/>
          </p:cNvSpPr>
          <p:nvPr/>
        </p:nvSpPr>
        <p:spPr>
          <a:xfrm>
            <a:off x="3619500" y="2085975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คัดลอก sh1106.py หรือ ssd1306.py ลง Root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75BDB4-71EF-49AE-89D4-60D5CFC96F0A}"/>
              </a:ext>
            </a:extLst>
          </p:cNvPr>
          <p:cNvSpPr>
            <a:spLocks noGrp="1"/>
          </p:cNvSpPr>
          <p:nvPr/>
        </p:nvSpPr>
        <p:spPr>
          <a:xfrm>
            <a:off x="457200" y="2743200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ปุ่มไม่ตอบสนอง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18AE2A-AE25-45C0-AFA5-3A2953E031D1}"/>
              </a:ext>
            </a:extLst>
          </p:cNvPr>
          <p:cNvSpPr>
            <a:spLocks noGrp="1"/>
          </p:cNvSpPr>
          <p:nvPr/>
        </p:nvSpPr>
        <p:spPr>
          <a:xfrm>
            <a:off x="3286125" y="2819400"/>
            <a:ext cx="38100" cy="37147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B6702A-C241-4A5D-BCDC-2C09ED0C5835}"/>
              </a:ext>
            </a:extLst>
          </p:cNvPr>
          <p:cNvSpPr>
            <a:spLocks noGrp="1"/>
          </p:cNvSpPr>
          <p:nvPr/>
        </p:nvSpPr>
        <p:spPr>
          <a:xfrm>
            <a:off x="3619500" y="2743200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ตรวจ GPIO6/7/8 และการต่อปุ่มลง GND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7E4E28-B3FB-4117-8B9C-BC8AF1B0F4A8}"/>
              </a:ext>
            </a:extLst>
          </p:cNvPr>
          <p:cNvSpPr>
            <a:spLocks noGrp="1"/>
          </p:cNvSpPr>
          <p:nvPr/>
        </p:nvSpPr>
        <p:spPr>
          <a:xfrm>
            <a:off x="457200" y="3400425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Encoder กลับทิศ/กระโดด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DB6CF4-B582-4B69-ABA5-BFECEFA24CE3}"/>
              </a:ext>
            </a:extLst>
          </p:cNvPr>
          <p:cNvSpPr>
            <a:spLocks noGrp="1"/>
          </p:cNvSpPr>
          <p:nvPr/>
        </p:nvSpPr>
        <p:spPr>
          <a:xfrm>
            <a:off x="3286125" y="3476625"/>
            <a:ext cx="38100" cy="37147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D56951-8237-45D5-8C4D-923C38136DE6}"/>
              </a:ext>
            </a:extLst>
          </p:cNvPr>
          <p:cNvSpPr>
            <a:spLocks noGrp="1"/>
          </p:cNvSpPr>
          <p:nvPr/>
        </p:nvSpPr>
        <p:spPr>
          <a:xfrm>
            <a:off x="3619500" y="3400425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ตรวจ GPIO10/11, ลดสาย, ปรับ Filter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E10870-07F6-4C11-A20D-3FA57AD7256B}"/>
              </a:ext>
            </a:extLst>
          </p:cNvPr>
          <p:cNvSpPr>
            <a:spLocks noGrp="1"/>
          </p:cNvSpPr>
          <p:nvPr/>
        </p:nvSpPr>
        <p:spPr>
          <a:xfrm>
            <a:off x="457200" y="4057650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ไม่มี CKP/CMP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40C49C-E034-4921-B1BE-701785B94D09}"/>
              </a:ext>
            </a:extLst>
          </p:cNvPr>
          <p:cNvSpPr>
            <a:spLocks noGrp="1"/>
          </p:cNvSpPr>
          <p:nvPr/>
        </p:nvSpPr>
        <p:spPr>
          <a:xfrm>
            <a:off x="3286125" y="4133850"/>
            <a:ext cx="38100" cy="37147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92E304-A876-47AD-BD80-D14DDB9BE552}"/>
              </a:ext>
            </a:extLst>
          </p:cNvPr>
          <p:cNvSpPr>
            <a:spLocks noGrp="1"/>
          </p:cNvSpPr>
          <p:nvPr/>
        </p:nvSpPr>
        <p:spPr>
          <a:xfrm>
            <a:off x="3619500" y="4057650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Probe GPIO14/15 และยืนยัน Signal GND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2817FB-6A0C-4A9A-9E84-72A9DF091C69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ความถี่ดูไม่ตรง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A6A004-77CD-4331-81C3-14FF1E9B246D}"/>
              </a:ext>
            </a:extLst>
          </p:cNvPr>
          <p:cNvSpPr>
            <a:spLocks noGrp="1"/>
          </p:cNvSpPr>
          <p:nvPr/>
        </p:nvSpPr>
        <p:spPr>
          <a:xfrm>
            <a:off x="3286125" y="4791075"/>
            <a:ext cx="38100" cy="37147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FD33A5-745E-4D79-A2A2-3F8E2B435761}"/>
              </a:ext>
            </a:extLst>
          </p:cNvPr>
          <p:cNvSpPr>
            <a:spLocks noGrp="1"/>
          </p:cNvSpPr>
          <p:nvPr/>
        </p:nvSpPr>
        <p:spPr>
          <a:xfrm>
            <a:off x="3619500" y="4714875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ใช้ Scope/Logic Analyzer แทนมิเตอร์ Hz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54A0AA-1F0E-4BF7-8DF1-4ED3B245DA2A}"/>
              </a:ext>
            </a:extLst>
          </p:cNvPr>
          <p:cNvSpPr>
            <a:spLocks noGrp="1"/>
          </p:cNvSpPr>
          <p:nvPr/>
        </p:nvSpPr>
        <p:spPr>
          <a:xfrm>
            <a:off x="457200" y="5372100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เปลี่ยน Pattern แล้ว RPM=1000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C64D93-6801-4563-8054-FBB6FFB60013}"/>
              </a:ext>
            </a:extLst>
          </p:cNvPr>
          <p:cNvSpPr>
            <a:spLocks noGrp="1"/>
          </p:cNvSpPr>
          <p:nvPr/>
        </p:nvSpPr>
        <p:spPr>
          <a:xfrm>
            <a:off x="3286125" y="5448300"/>
            <a:ext cx="38100" cy="371475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20278F-F899-4901-86B4-5BA38773B43C}"/>
              </a:ext>
            </a:extLst>
          </p:cNvPr>
          <p:cNvSpPr>
            <a:spLocks noGrp="1"/>
          </p:cNvSpPr>
          <p:nvPr/>
        </p:nvSpPr>
        <p:spPr>
          <a:xfrm>
            <a:off x="3619500" y="5372100"/>
            <a:ext cx="781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เป็นพฤติกรรมปกติของ load_pattern()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2265CA-72F5-4EEB-BC41-89E067FD18F1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A5876B-592D-4CA1-88F4-2ADD41C153A2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25881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4A72974-4F38-4315-B0E0-0E2BC2E6D9BB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ENGINEERING REPORT • P.U.K CAR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D17916-D2AD-41FB-A8C5-8581120C331B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1277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1820"/>
                </a:solidFill>
              </a:defRPr>
            </a:pPr>
            <a:r>
              <a:rPr sz="2625" b="1">
                <a:solidFill>
                  <a:srgbClr val="101820"/>
                </a:solidFill>
              </a:rPr>
              <a:t>เวอร์ชันเชิงพาณิชย์ควรเพิ่ม Output Stage, RUN/STOP และระบบตรวจสอบย้อนกลับ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1192A-7809-4AE8-AFAB-1AC84BF67605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9EBE9-9ED2-4339-A86E-80D8872BE468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C93C37"/>
                </a:solidFill>
              </a:defRPr>
            </a:pPr>
            <a:r>
              <a:rPr sz="1875" b="1">
                <a:solidFill>
                  <a:srgbClr val="C93C37"/>
                </a:solidFill>
              </a:rPr>
              <a:t>ข้อจำกัดปัจจุบัน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444AAA-6FA6-4947-AA7A-7AF7EE625157}"/>
              </a:ext>
            </a:extLst>
          </p:cNvPr>
          <p:cNvSpPr>
            <a:spLocks noGrp="1"/>
          </p:cNvSpPr>
          <p:nvPr/>
        </p:nvSpPr>
        <p:spPr>
          <a:xfrm>
            <a:off x="6477000" y="1571625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68A5B"/>
                </a:solidFill>
              </a:defRPr>
            </a:pPr>
            <a:r>
              <a:rPr sz="1875" b="1">
                <a:solidFill>
                  <a:srgbClr val="168A5B"/>
                </a:solidFill>
              </a:rPr>
              <a:t>แนวทางพัฒนา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0F4FE-3CD7-478A-848C-35D249537293}"/>
              </a:ext>
            </a:extLst>
          </p:cNvPr>
          <p:cNvSpPr>
            <a:spLocks noGrp="1"/>
          </p:cNvSpPr>
          <p:nvPr/>
        </p:nvSpPr>
        <p:spPr>
          <a:xfrm>
            <a:off x="476250" y="2143125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93C37"/>
                </a:solidFill>
              </a:defRPr>
            </a:pPr>
            <a:r>
              <a:rPr sz="1500" b="1">
                <a:solidFill>
                  <a:srgbClr val="C93C37"/>
                </a:solidFill>
              </a:rPr>
              <a:t>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6E7664-009A-4F71-8899-55381DF7CCB3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ไม่บันทึกค่าล่าสุดลง Flash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08E10C-B2D7-4C06-B43C-DF5C5A9D3ACA}"/>
              </a:ext>
            </a:extLst>
          </p:cNvPr>
          <p:cNvSpPr>
            <a:spLocks noGrp="1"/>
          </p:cNvSpPr>
          <p:nvPr/>
        </p:nvSpPr>
        <p:spPr>
          <a:xfrm>
            <a:off x="476250" y="2857500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93C37"/>
                </a:solidFill>
              </a:defRPr>
            </a:pPr>
            <a:r>
              <a:rPr sz="1500" b="1">
                <a:solidFill>
                  <a:srgbClr val="C93C37"/>
                </a:solidFill>
              </a:rPr>
              <a:t>–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D3192D-FA59-4650-8E0D-C589F5F77B30}"/>
              </a:ext>
            </a:extLst>
          </p:cNvPr>
          <p:cNvSpPr>
            <a:spLocks noGrp="1"/>
          </p:cNvSpPr>
          <p:nvPr/>
        </p:nvSpPr>
        <p:spPr>
          <a:xfrm>
            <a:off x="809625" y="2857500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ไม่มี Software RUN/STOP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6321E-4F5C-4634-B318-03748FF76A51}"/>
              </a:ext>
            </a:extLst>
          </p:cNvPr>
          <p:cNvSpPr>
            <a:spLocks noGrp="1"/>
          </p:cNvSpPr>
          <p:nvPr/>
        </p:nvSpPr>
        <p:spPr>
          <a:xfrm>
            <a:off x="476250" y="3571875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93C37"/>
                </a:solidFill>
              </a:defRPr>
            </a:pPr>
            <a:r>
              <a:rPr sz="1500" b="1">
                <a:solidFill>
                  <a:srgbClr val="C93C37"/>
                </a:solidFill>
              </a:rPr>
              <a:t>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429CEC-365D-45A1-94A9-A462C84BA568}"/>
              </a:ext>
            </a:extLst>
          </p:cNvPr>
          <p:cNvSpPr>
            <a:spLocks noGrp="1"/>
          </p:cNvSpPr>
          <p:nvPr/>
        </p:nvSpPr>
        <p:spPr>
          <a:xfrm>
            <a:off x="809625" y="3571875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ไม่มี Self-test / Feedback Frequency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C973E-01AB-43BE-9F7A-BE4396FBF924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93C37"/>
                </a:solidFill>
              </a:defRPr>
            </a:pPr>
            <a:r>
              <a:rPr sz="1500" b="1">
                <a:solidFill>
                  <a:srgbClr val="C93C37"/>
                </a:solidFill>
              </a:rPr>
              <a:t>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29EC52-026D-46DA-A729-528444F5C027}"/>
              </a:ext>
            </a:extLst>
          </p:cNvPr>
          <p:cNvSpPr>
            <a:spLocks noGrp="1"/>
          </p:cNvSpPr>
          <p:nvPr/>
        </p:nvSpPr>
        <p:spPr>
          <a:xfrm>
            <a:off x="809625" y="4286250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ไม่มี Watchdog / Error Log / Version UI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1417E9-E173-4189-B9D6-0CF86B82B1A7}"/>
              </a:ext>
            </a:extLst>
          </p:cNvPr>
          <p:cNvSpPr>
            <a:spLocks noGrp="1"/>
          </p:cNvSpPr>
          <p:nvPr/>
        </p:nvSpPr>
        <p:spPr>
          <a:xfrm>
            <a:off x="476250" y="5000625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93C37"/>
                </a:solidFill>
              </a:defRPr>
            </a:pPr>
            <a:r>
              <a:rPr sz="1500" b="1">
                <a:solidFill>
                  <a:srgbClr val="C93C37"/>
                </a:solidFill>
              </a:rPr>
              <a:t>–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EAFDBC-0D0F-4813-859C-E1F6C38C2D2E}"/>
              </a:ext>
            </a:extLst>
          </p:cNvPr>
          <p:cNvSpPr>
            <a:spLocks noGrp="1"/>
          </p:cNvSpPr>
          <p:nvPr/>
        </p:nvSpPr>
        <p:spPr>
          <a:xfrm>
            <a:off x="809625" y="5000625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Output เป็น Push-pull 3.3V เท่านั้น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67523C-46E5-4533-8BED-90DE8BFC549F}"/>
              </a:ext>
            </a:extLst>
          </p:cNvPr>
          <p:cNvSpPr>
            <a:spLocks noGrp="1"/>
          </p:cNvSpPr>
          <p:nvPr/>
        </p:nvSpPr>
        <p:spPr>
          <a:xfrm>
            <a:off x="6477000" y="2143125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68A5B"/>
                </a:solidFill>
              </a:defRPr>
            </a:pPr>
            <a:r>
              <a:rPr sz="1500" b="1">
                <a:solidFill>
                  <a:srgbClr val="168A5B"/>
                </a:solidFill>
              </a:rPr>
              <a:t>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84380C-0CDA-46A3-ACF7-C313AE8499BA}"/>
              </a:ext>
            </a:extLst>
          </p:cNvPr>
          <p:cNvSpPr>
            <a:spLocks noGrp="1"/>
          </p:cNvSpPr>
          <p:nvPr/>
        </p:nvSpPr>
        <p:spPr>
          <a:xfrm>
            <a:off x="6810375" y="2143125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เพิ่ม 3.3V / 5V Open-collector / Protection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F54426-F02C-445B-8B31-7F13E4EAF758}"/>
              </a:ext>
            </a:extLst>
          </p:cNvPr>
          <p:cNvSpPr>
            <a:spLocks noGrp="1"/>
          </p:cNvSpPr>
          <p:nvPr/>
        </p:nvSpPr>
        <p:spPr>
          <a:xfrm>
            <a:off x="6477000" y="2857500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68A5B"/>
                </a:solidFill>
              </a:defRPr>
            </a:pPr>
            <a:r>
              <a:rPr sz="1500" b="1">
                <a:solidFill>
                  <a:srgbClr val="168A5B"/>
                </a:solidFill>
              </a:rPr>
              <a:t>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F26F59-5882-4570-999C-D2A132C0B5AB}"/>
              </a:ext>
            </a:extLst>
          </p:cNvPr>
          <p:cNvSpPr>
            <a:spLocks noGrp="1"/>
          </p:cNvSpPr>
          <p:nvPr/>
        </p:nvSpPr>
        <p:spPr>
          <a:xfrm>
            <a:off x="6810375" y="2857500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บังคับ Output LOW เมื่อ STOP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04125D-A5CE-4C0E-9138-31D648B6C9B5}"/>
              </a:ext>
            </a:extLst>
          </p:cNvPr>
          <p:cNvSpPr>
            <a:spLocks noGrp="1"/>
          </p:cNvSpPr>
          <p:nvPr/>
        </p:nvSpPr>
        <p:spPr>
          <a:xfrm>
            <a:off x="6477000" y="3571875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68A5B"/>
                </a:solidFill>
              </a:defRPr>
            </a:pPr>
            <a:r>
              <a:rPr sz="1500" b="1">
                <a:solidFill>
                  <a:srgbClr val="168A5B"/>
                </a:solidFill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1DA26E-B66A-4D64-8F66-A524D703B707}"/>
              </a:ext>
            </a:extLst>
          </p:cNvPr>
          <p:cNvSpPr>
            <a:spLocks noGrp="1"/>
          </p:cNvSpPr>
          <p:nvPr/>
        </p:nvSpPr>
        <p:spPr>
          <a:xfrm>
            <a:off x="6810375" y="3571875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Golden Waveform + Automated QC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B3D36E-B61F-49BE-9756-D98DCC61D2AA}"/>
              </a:ext>
            </a:extLst>
          </p:cNvPr>
          <p:cNvSpPr>
            <a:spLocks noGrp="1"/>
          </p:cNvSpPr>
          <p:nvPr/>
        </p:nvSpPr>
        <p:spPr>
          <a:xfrm>
            <a:off x="6477000" y="4286250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68A5B"/>
                </a:solidFill>
              </a:defRPr>
            </a:pPr>
            <a:r>
              <a:rPr sz="1500" b="1">
                <a:solidFill>
                  <a:srgbClr val="168A5B"/>
                </a:solidFill>
              </a:rPr>
              <a:t>+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4E7514-783A-4BC7-B146-893126A20CFE}"/>
              </a:ext>
            </a:extLst>
          </p:cNvPr>
          <p:cNvSpPr>
            <a:spLocks noGrp="1"/>
          </p:cNvSpPr>
          <p:nvPr/>
        </p:nvSpPr>
        <p:spPr>
          <a:xfrm>
            <a:off x="6810375" y="4286250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Firmware Version + Serial + Revision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BA3648-ECAE-4663-A31C-E06D5E149AA3}"/>
              </a:ext>
            </a:extLst>
          </p:cNvPr>
          <p:cNvSpPr>
            <a:spLocks noGrp="1"/>
          </p:cNvSpPr>
          <p:nvPr/>
        </p:nvSpPr>
        <p:spPr>
          <a:xfrm>
            <a:off x="6477000" y="5000625"/>
            <a:ext cx="238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68A5B"/>
                </a:solidFill>
              </a:defRPr>
            </a:pPr>
            <a:r>
              <a:rPr sz="1500" b="1">
                <a:solidFill>
                  <a:srgbClr val="168A5B"/>
                </a:solidFill>
              </a:rPr>
              <a:t>+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76CA37-DCC2-4164-8A67-4C2096B1E276}"/>
              </a:ext>
            </a:extLst>
          </p:cNvPr>
          <p:cNvSpPr>
            <a:spLocks noGrp="1"/>
          </p:cNvSpPr>
          <p:nvPr/>
        </p:nvSpPr>
        <p:spPr>
          <a:xfrm>
            <a:off x="6810375" y="5000625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Preset และบันทึกค่าแบบลด Wear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91BDDC-3106-4061-9CE8-E0CB8023DF77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RP2040 CKP/CMP SIGNAL SIMULATOR  •  ENGINEERING &amp; USER MANUAL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63FB19-F9DB-41EB-9E6D-EA283B3E91B0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41838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6A0479-D9E7-4E52-9332-291432947487}"/>
              </a:ext>
            </a:extLst>
          </p:cNvPr>
          <p:cNvSpPr>
            <a:spLocks noGrp="1"/>
          </p:cNvSpPr>
          <p:nvPr/>
        </p:nvSpPr>
        <p:spPr>
          <a:xfrm>
            <a:off x="457200" y="428625"/>
            <a:ext cx="11277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สรุปทางวิศวกรรม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762978-C1C7-46AB-A269-BC1663209861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11277600" cy="19050"/>
          </a:xfrm>
          <a:prstGeom prst="rect">
            <a:avLst/>
          </a:prstGeom>
          <a:solidFill>
            <a:srgbClr val="52616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08A58D-E959-42E6-AEA9-3559DAAF418D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342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6DCBF4"/>
                </a:solidFill>
              </a:defRPr>
            </a:pPr>
            <a:r>
              <a:rPr sz="2550" b="1">
                <a:solidFill>
                  <a:srgbClr val="6DCBF4"/>
                </a:solidFill>
              </a:rPr>
              <a:t>RP2040 PIO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479FA-08FD-48DE-8BB2-1412C8E84A0D}"/>
              </a:ext>
            </a:extLst>
          </p:cNvPr>
          <p:cNvSpPr>
            <a:spLocks noGrp="1"/>
          </p:cNvSpPr>
          <p:nvPr/>
        </p:nvSpPr>
        <p:spPr>
          <a:xfrm>
            <a:off x="4191000" y="1666875"/>
            <a:ext cx="714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สร้าง CKP/CMP แยกจากงาน UI ลดผลกระทบจากจอและการอ่านปุ่ม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B0FC3-50B1-4C52-94CC-D3C2E5FE1357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342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6DCBF4"/>
                </a:solidFill>
              </a:defRPr>
            </a:pPr>
            <a:r>
              <a:rPr sz="2550" b="1">
                <a:solidFill>
                  <a:srgbClr val="6DCBF4"/>
                </a:solidFill>
              </a:rPr>
              <a:t>Stand-alone HMI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9F9F4-BBAD-4AE9-B72D-2AC5AD01E61F}"/>
              </a:ext>
            </a:extLst>
          </p:cNvPr>
          <p:cNvSpPr>
            <a:spLocks noGrp="1"/>
          </p:cNvSpPr>
          <p:nvPr/>
        </p:nvSpPr>
        <p:spPr>
          <a:xfrm>
            <a:off x="4191000" y="2714625"/>
            <a:ext cx="714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6 Pattern • 100–15,000 RPM • Step 10/100 • OLED + Encoder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E278FA-32FB-4B27-8A16-1F676A5DC307}"/>
              </a:ext>
            </a:extLst>
          </p:cNvPr>
          <p:cNvSpPr>
            <a:spLocks noGrp="1"/>
          </p:cNvSpPr>
          <p:nvPr/>
        </p:nvSpPr>
        <p:spPr>
          <a:xfrm>
            <a:off x="571500" y="3762375"/>
            <a:ext cx="342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6DCBF4"/>
                </a:solidFill>
              </a:defRPr>
            </a:pPr>
            <a:r>
              <a:rPr sz="2550" b="1">
                <a:solidFill>
                  <a:srgbClr val="6DCBF4"/>
                </a:solidFill>
              </a:rPr>
              <a:t>Engineering Gate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E8171A-33E4-4DCB-A858-F52D720BEDE8}"/>
              </a:ext>
            </a:extLst>
          </p:cNvPr>
          <p:cNvSpPr>
            <a:spLocks noGrp="1"/>
          </p:cNvSpPr>
          <p:nvPr/>
        </p:nvSpPr>
        <p:spPr>
          <a:xfrm>
            <a:off x="4191000" y="3762375"/>
            <a:ext cx="714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ยืนยัน Automotive Interface, Protection, Golden Waveform และ QC ก่อนต่อ ECU จริง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39AEC6-D89A-49F9-8524-D439C02F518F}"/>
              </a:ext>
            </a:extLst>
          </p:cNvPr>
          <p:cNvSpPr>
            <a:spLocks noGrp="1"/>
          </p:cNvSpPr>
          <p:nvPr/>
        </p:nvSpPr>
        <p:spPr>
          <a:xfrm>
            <a:off x="457200" y="5381625"/>
            <a:ext cx="11277600" cy="666750"/>
          </a:xfrm>
          <a:prstGeom prst="rect">
            <a:avLst/>
          </a:prstGeom>
          <a:solidFill>
            <a:srgbClr val="1464F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EE2027-8743-498F-AA95-2336F9132D5A}"/>
              </a:ext>
            </a:extLst>
          </p:cNvPr>
          <p:cNvSpPr>
            <a:spLocks noGrp="1"/>
          </p:cNvSpPr>
          <p:nvPr/>
        </p:nvSpPr>
        <p:spPr>
          <a:xfrm>
            <a:off x="666750" y="5505450"/>
            <a:ext cx="1085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พร้อมใช้เพื่อการทดลองและฝึกอบรม — พร้อมต่อยอดเป็นผลิตภัณฑ์เมื่อผ่านการ Validation</a:t>
            </a:r>
          </a:p>
        </p:txBody>
      </p:sp>
    </p:spTree>
    <p:extLst>
      <p:ext uri="{BB962C8B-B14F-4D97-AF65-F5344CB8AC3E}">
        <p14:creationId xmlns:p14="http://schemas.microsoft.com/office/powerpoint/2010/main" val="721922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2256</Words>
  <Application>Microsoft Office PowerPoint</Application>
  <DocSecurity>0</DocSecurity>
  <PresentationFormat>Widescreen</PresentationFormat>
  <Paragraphs>414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พลวัฒน์ กุณารี</cp:lastModifiedBy>
  <cp:revision>1</cp:revision>
  <dcterms:created xsi:type="dcterms:W3CDTF">2026-08-20T10:47:03Z</dcterms:created>
  <dcterms:modified xsi:type="dcterms:W3CDTF">2026-08-20T10:53:31Z</dcterms:modified>
</cp:coreProperties>
</file>